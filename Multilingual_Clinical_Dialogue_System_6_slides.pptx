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8"/>
  </p:notesMasterIdLst>
  <p:sldIdLst>
    <p:sldId id="256" r:id="rId2"/>
    <p:sldId id="257" r:id="rId3"/>
    <p:sldId id="258" r:id="rId4"/>
    <p:sldId id="259" r:id="rId5"/>
    <p:sldId id="260" r:id="rId6"/>
    <p:sldId id="261" r:id="rId7"/>
  </p:sldIdLst>
  <p:sldSz cx="12192000" cy="6858000"/>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7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2866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175" tIns="40087" rIns="80175" bIns="40087"/>
          <a:lstStyle/>
          <a:p>
            <a:r>
              <a:rPr lang="en-US" dirty="0"/>
              <a:t>Title slide. Introduce the project in one line: an AI assistant that collects lifestyle history during a clinical conversation in the patient's own language and hands the doctor a scored, reviewable summary.</a:t>
            </a:r>
          </a:p>
        </p:txBody>
      </p:sp>
      <p:sp>
        <p:nvSpPr>
          <p:cNvPr id="4" name="Slide Number Placeholder 3"/>
          <p:cNvSpPr>
            <a:spLocks noGrp="1"/>
          </p:cNvSpPr>
          <p:nvPr>
            <p:ph type="sldNum" sz="quarter" idx="10"/>
          </p:nvPr>
        </p:nvSpPr>
        <p:spPr/>
        <p:txBody>
          <a:bodyPr lIns="80175" tIns="40087" rIns="80175" bIns="40087"/>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80175" tIns="40087" rIns="80175" bIns="40087"/>
          <a:lstStyle/>
          <a:p>
            <a:r>
              <a:t>The gap is not that doctors don't know lifestyle matters - it's that there is no time to ask systematically, and language makes it harder. The six objectives follow from that; objective 4 is the key one: deterministic means the score is computed by a fixed rule table, not generated by the AI.</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80175" tIns="40087" rIns="80175" bIns="40087"/>
          <a:lstStyle/>
          <a:p>
            <a:r>
              <a:t>Walk the five steps top to bottom, then point at the red box: this is the safety branch - it fires before any lifestyle question and stops the questionnaire entirely. The diagram on the right shows how the Next.js client, Django REST API, Groq LLM, scispaCy NER and ChromaDB guideline store fit together.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80175" tIns="40087" rIns="80175" bIns="40087"/>
          <a:lstStyle/>
          <a:p>
            <a:r>
              <a:t>The eight areas: sleep, exercise, smoking, alcohol, diet, water, stress, sitting. Order is fixed but wording adapts. The left panel is real output from the running system - the 34/Poor result is in the seeded demo data and test suite. The page citations on the right are the important part: each recommendation is traceable to a real guideline document.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80175" tIns="40087" rIns="80175" bIns="40087"/>
          <a:lstStyle/>
          <a:p>
            <a:r>
              <a:t>Most likely viva question: the LLM extracts values, Python scores them. If asked why scispaCy and not BioBERT: BioBERT needs PyTorch and several GB of RAM; scispaCy runs on CPU and deploys on a small VPS. Mention that both open ends are bounded and sparse data produces no score rather than a misleading one.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80175" tIns="40087" rIns="80175" bIns="40087"/>
          <a:lstStyle/>
          <a:p>
            <a:r>
              <a:t>Have the guardrails ready for 'what if the AI is wrong?': no AI output reaches the patient unreviewed - the doctor can override every value and the score recalculates. 'What was built' turns the deck from a proposal into a result. Close here; if there is time, demo the doctor dashboard with live re-scoring.</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a:t>Click to edit Master subtitle style</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r>
              <a:rPr lang="en-US" dirty="0"/>
              <a:t>Sample footer text</a:t>
            </a:r>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a:lstStyle/>
          <a:p>
            <a:fld id="{CC057153-B650-4DEB-B370-79DDCFDCE934}" type="slidenum">
              <a:rPr lang="en-US" smtClean="0"/>
              <a:pPr/>
              <a:t>‹#›</a:t>
            </a:fld>
            <a:endParaRPr lang="en-US" dirty="0"/>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a:t>Click to edit Master title style</a:t>
            </a:r>
            <a:endParaRPr lang="en-US" dirty="0"/>
          </a:p>
        </p:txBody>
      </p:sp>
    </p:spTree>
    <p:extLst>
      <p:ext uri="{BB962C8B-B14F-4D97-AF65-F5344CB8AC3E}">
        <p14:creationId xmlns:p14="http://schemas.microsoft.com/office/powerpoint/2010/main" val="874154497"/>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a:lstStyle/>
          <a:p>
            <a:r>
              <a:rPr lang="en-US" dirty="0"/>
              <a:t>Sample footer text</a:t>
            </a:r>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endParaRPr lang="en-US" dirty="0"/>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a:lstStyle/>
          <a:p>
            <a:fld id="{CC057153-B650-4DEB-B370-79DDCFDCE934}" type="slidenum">
              <a:rPr lang="en-US" smtClean="0"/>
              <a:pPr/>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9486452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0" y="0"/>
            <a:ext cx="6096000" cy="6858000"/>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a:lstStyle/>
          <a:p>
            <a:r>
              <a:rPr lang="en-US"/>
              <a:t>Click to edit Master title style</a:t>
            </a:r>
            <a:endParaRPr lang="en-US" dirty="0"/>
          </a:p>
        </p:txBody>
      </p:sp>
    </p:spTree>
    <p:extLst>
      <p:ext uri="{BB962C8B-B14F-4D97-AF65-F5344CB8AC3E}">
        <p14:creationId xmlns:p14="http://schemas.microsoft.com/office/powerpoint/2010/main" val="2993953304"/>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pic>
        <p:nvPicPr>
          <p:cNvPr id="7" name="Graphic 6">
            <a:extLst>
              <a:ext uri="{FF2B5EF4-FFF2-40B4-BE49-F238E27FC236}">
                <a16:creationId xmlns:a16="http://schemas.microsoft.com/office/drawing/2014/main" id="{D29E0058-93A2-5291-6ACA-A043086266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endParaRPr lang="en-US" dirty="0"/>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rPr lang="en-US"/>
              <a:t>Click to edit Master title style</a:t>
            </a:r>
          </a:p>
        </p:txBody>
      </p:sp>
    </p:spTree>
    <p:extLst>
      <p:ext uri="{BB962C8B-B14F-4D97-AF65-F5344CB8AC3E}">
        <p14:creationId xmlns:p14="http://schemas.microsoft.com/office/powerpoint/2010/main" val="2762589081"/>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2739371245"/>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8139659" cy="1554480"/>
          </a:xfrm>
        </p:spPr>
        <p:txBody>
          <a:bodyPr anchor="t">
            <a:normAutofit/>
          </a:bodyPr>
          <a:lstStyle>
            <a:lvl1pPr>
              <a:defRPr sz="56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8139660" cy="3557904"/>
          </a:xfrm>
        </p:spPr>
        <p:txBody>
          <a:bodyPr>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Oval 7">
            <a:extLst>
              <a:ext uri="{FF2B5EF4-FFF2-40B4-BE49-F238E27FC236}">
                <a16:creationId xmlns:a16="http://schemas.microsoft.com/office/drawing/2014/main" id="{175C8E38-E957-9E3C-9A05-717C0F009AB9}"/>
              </a:ext>
            </a:extLst>
          </p:cNvPr>
          <p:cNvSpPr/>
          <p:nvPr/>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134911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66396" y="621792"/>
            <a:ext cx="5386715" cy="1816898"/>
          </a:xfrm>
        </p:spPr>
        <p:txBody>
          <a:bodyPr anchor="t">
            <a:noAutofit/>
          </a:bodyPr>
          <a:lstStyle>
            <a:lvl1pPr>
              <a:defRPr sz="56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5906642" cy="6858000"/>
          </a:xfrm>
          <a:blipFill>
            <a:blip r:embed="rId2">
              <a:alphaModFix amt="70000"/>
            </a:blip>
            <a:stretch>
              <a:fillRect/>
            </a:stretch>
          </a:blipFill>
        </p:spPr>
        <p:txBody>
          <a:bodyPr/>
          <a:lstStyle>
            <a:lvl1pPr>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0364"/>
            <a:ext cx="5349239" cy="365125"/>
          </a:xfrm>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740228"/>
            <a:ext cx="5906642" cy="4096512"/>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7600363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a:normAutofit/>
          </a:bodyPr>
          <a:lstStyle>
            <a:lvl1pPr>
              <a:defRPr sz="5600"/>
            </a:lvl1p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32150" y="100701"/>
            <a:ext cx="5366480" cy="365125"/>
          </a:xfrm>
        </p:spPr>
        <p:txBody>
          <a:bodyPr/>
          <a:lstStyle/>
          <a:p>
            <a:r>
              <a:rPr lang="en-US" dirty="0"/>
              <a:t>Sample footer text</a:t>
            </a:r>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190488" y="100701"/>
            <a:ext cx="2940449" cy="365125"/>
          </a:xfrm>
        </p:spPr>
        <p:txBody>
          <a:bodyPr/>
          <a:lstStyle/>
          <a:p>
            <a:endParaRPr lang="en-US" dirty="0"/>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190488" y="969264"/>
            <a:ext cx="5336753"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8773101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496" y="988979"/>
            <a:ext cx="3462878" cy="2942419"/>
          </a:xfrm>
        </p:spPr>
        <p:txBody>
          <a:bodyPr>
            <a:normAutofit/>
          </a:bodyPr>
          <a:lstStyle>
            <a:lvl1pPr>
              <a:defRPr sz="5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532150" y="100701"/>
            <a:ext cx="3470224"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4317167" y="100701"/>
            <a:ext cx="2940449" cy="365125"/>
          </a:xfrm>
        </p:spPr>
        <p:txBody>
          <a:bodyPr/>
          <a:lstStyle/>
          <a:p>
            <a:endParaRPr lang="en-US" dirty="0"/>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17167" y="967689"/>
            <a:ext cx="7217771"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6730444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804012" cy="6858000"/>
          </a:xfrm>
          <a:blipFill>
            <a:blip r:embed="rId2">
              <a:alphaModFix amt="70000"/>
            </a:blip>
            <a:stretch>
              <a:fillRect/>
            </a:stretch>
          </a:blipFill>
        </p:spPr>
        <p:txBody>
          <a:bodyPr/>
          <a:lstStyle>
            <a:lvl1pPr>
              <a:defRPr lang="en-US" dirty="0"/>
            </a:lvl1pPr>
          </a:lstStyle>
          <a:p>
            <a:r>
              <a:rPr lang="en-US" dirty="0"/>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04122" y="6452990"/>
            <a:ext cx="1968375" cy="365125"/>
          </a:xfrm>
        </p:spPr>
        <p:txBody>
          <a:bodyPr anchor="b"/>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16252" y="6452989"/>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319899189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blip>
            <a:stretch>
              <a:fillRect/>
            </a:stretch>
          </a:blipFill>
        </p:spPr>
        <p:txBody>
          <a:bodyPr/>
          <a:lstStyle>
            <a:lvl1pPr>
              <a:defRPr/>
            </a:lvl1pPr>
          </a:lstStyle>
          <a:p>
            <a:r>
              <a:rPr lang="en-US" dirty="0"/>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309088"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281793" y="6492875"/>
            <a:ext cx="1968375" cy="365125"/>
          </a:xfrm>
        </p:spPr>
        <p:txBody>
          <a:bodyPr anchor="b"/>
          <a:lstStyle/>
          <a:p>
            <a:r>
              <a:rPr lang="en-US" dirty="0"/>
              <a:t>Sample footer text</a:t>
            </a:r>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9023903" y="6492875"/>
            <a:ext cx="1596200" cy="365125"/>
          </a:xfrm>
        </p:spPr>
        <p:txBody>
          <a:bodyPr anchor="b"/>
          <a:lstStyle/>
          <a:p>
            <a:endParaRPr lang="en-US" dirty="0"/>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1105296" y="6492875"/>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116593202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569602"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8168640" y="1"/>
            <a:ext cx="4023360" cy="6858000"/>
          </a:xfrm>
          <a:blipFill>
            <a:blip r:embed="rId2">
              <a:alphaModFix amt="70000"/>
            </a:blip>
            <a:stretch>
              <a:fillRect/>
            </a:stretch>
          </a:blipFill>
        </p:spPr>
        <p:txBody>
          <a:bodyPr/>
          <a:lstStyle>
            <a:lvl1pPr>
              <a:defRPr/>
            </a:lvl1pPr>
          </a:lstStyle>
          <a:p>
            <a:r>
              <a:rPr lang="en-US" dirty="0"/>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542307" y="6492875"/>
            <a:ext cx="1968375" cy="365125"/>
          </a:xfrm>
        </p:spPr>
        <p:txBody>
          <a:bodyPr/>
          <a:lstStyle/>
          <a:p>
            <a:r>
              <a:rPr lang="en-US" dirty="0"/>
              <a:t>Sample footer text</a:t>
            </a:r>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284417" y="6492875"/>
            <a:ext cx="1596200" cy="365125"/>
          </a:xfrm>
        </p:spPr>
        <p:txBody>
          <a:bodyPr/>
          <a:lstStyle/>
          <a:p>
            <a:endParaRPr lang="en-US" dirty="0"/>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7365810" y="6492875"/>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45107892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anchor="t" anchorCtr="0"/>
          <a:lstStyle/>
          <a:p>
            <a:r>
              <a:rPr lang="en-US"/>
              <a:t>Click to edit Master title style</a:t>
            </a:r>
            <a:endParaRPr lang="en-US" dirty="0"/>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18616" y="2513110"/>
            <a:ext cx="5326683" cy="356800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6308842" y="0"/>
            <a:ext cx="5883158" cy="6858000"/>
          </a:xfrm>
          <a:blipFill>
            <a:blip r:embed="rId2">
              <a:alphaModFix amt="7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18615" y="6450237"/>
            <a:ext cx="1968375" cy="365125"/>
          </a:xfrm>
        </p:spPr>
        <p:txBody>
          <a:bodyPr anchor="b"/>
          <a:lstStyle/>
          <a:p>
            <a:r>
              <a:rPr lang="en-US" dirty="0"/>
              <a:t>Sample footer text</a:t>
            </a:r>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5453953" y="6464979"/>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96558698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anchor="t">
            <a:noAutofit/>
          </a:bodyPr>
          <a:lstStyle>
            <a:lvl1pPr>
              <a:defRPr sz="5600"/>
            </a:lvl1p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543940" y="2890729"/>
            <a:ext cx="4449227"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5363570" y="0"/>
            <a:ext cx="6828430" cy="6858000"/>
          </a:xfrm>
          <a:blipFill>
            <a:blip r:embed="rId2">
              <a:alphaModFix amt="70000"/>
            </a:blip>
            <a:stretch>
              <a:fillRect/>
            </a:stretch>
          </a:blipFill>
        </p:spPr>
        <p:txBody>
          <a:bodyPr/>
          <a:lstStyle>
            <a:lvl1pPr>
              <a:defRPr/>
            </a:lvl1pPr>
          </a:lstStyle>
          <a:p>
            <a:r>
              <a:rPr lang="en-US" dirty="0"/>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15618" y="6430476"/>
            <a:ext cx="1968375" cy="379867"/>
          </a:xfrm>
        </p:spPr>
        <p:txBody>
          <a:bodyPr anchor="b"/>
          <a:lstStyle/>
          <a:p>
            <a:r>
              <a:rPr lang="en-US" dirty="0"/>
              <a:t>Sample footer text</a:t>
            </a:r>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4563960" y="6430476"/>
            <a:ext cx="429207" cy="379867"/>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292844753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anchor="t">
            <a:noAutofit/>
          </a:bodyPr>
          <a:lstStyle>
            <a:lvl1pPr>
              <a:defRPr sz="5600"/>
            </a:lvl1pPr>
          </a:lstStyle>
          <a:p>
            <a:r>
              <a:rPr lang="en-US"/>
              <a:t>Click to edit Master title style</a:t>
            </a:r>
            <a:endParaRPr lang="en-US" dirty="0"/>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7260609" cy="6858000"/>
          </a:xfrm>
          <a:blipFill>
            <a:blip r:embed="rId2">
              <a:alphaModFix amt="7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7521" y="3211512"/>
            <a:ext cx="3884547"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7649733" y="6456384"/>
            <a:ext cx="1968375" cy="379867"/>
          </a:xfrm>
        </p:spPr>
        <p:txBody>
          <a:bodyPr anchor="b"/>
          <a:lstStyle/>
          <a:p>
            <a:r>
              <a:rPr lang="en-US" dirty="0"/>
              <a:t>Sample footer text</a:t>
            </a:r>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1134152" y="6456385"/>
            <a:ext cx="429207" cy="379867"/>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415275354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anchor="t">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29000"/>
          </a:xfrm>
          <a:blipFill>
            <a:blip r:embed="rId2">
              <a:alphaModFix amt="70000"/>
            </a:blip>
            <a:stretch>
              <a:fillRect/>
            </a:stretch>
          </a:blipFill>
        </p:spPr>
        <p:txBody>
          <a:bodyPr/>
          <a:lstStyle>
            <a:lvl1pPr>
              <a:defRPr/>
            </a:lvl1pPr>
          </a:lstStyle>
          <a:p>
            <a:r>
              <a:rPr lang="en-US" dirty="0"/>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262666" y="6442872"/>
            <a:ext cx="1968375" cy="379867"/>
          </a:xfrm>
        </p:spPr>
        <p:txBody>
          <a:bodyPr anchor="b"/>
          <a:lstStyle/>
          <a:p>
            <a:r>
              <a:rPr lang="en-US" dirty="0"/>
              <a:t>Sample footer text</a:t>
            </a:r>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7697040" y="6442872"/>
            <a:ext cx="2295997" cy="379867"/>
          </a:xfrm>
        </p:spPr>
        <p:txBody>
          <a:bodyPr anchor="b"/>
          <a:lstStyle/>
          <a:p>
            <a:endParaRPr lang="en-US" dirty="0"/>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1137271" y="6442873"/>
            <a:ext cx="429207" cy="379867"/>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208909561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anchor="t">
            <a:noAutofit/>
          </a:bodyPr>
          <a:lstStyle>
            <a:lvl1pPr>
              <a:defRPr sz="5600"/>
            </a:lvl1pPr>
          </a:lstStyle>
          <a:p>
            <a:r>
              <a:rPr lang="en-US"/>
              <a:t>Click to edit Master title style</a:t>
            </a:r>
            <a:endParaRPr lang="en-US" dirty="0"/>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a:lstStyle>
            <a:lvl1pPr>
              <a:defRPr/>
            </a:lvl1pPr>
          </a:lstStyle>
          <a:p>
            <a:r>
              <a:rPr lang="en-US" dirty="0"/>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177425" y="6428984"/>
            <a:ext cx="4467829" cy="365125"/>
          </a:xfrm>
        </p:spPr>
        <p:txBody>
          <a:bodyPr anchor="b"/>
          <a:lstStyle/>
          <a:p>
            <a:r>
              <a:rPr lang="en-US" dirty="0"/>
              <a:t>Sample footer text</a:t>
            </a:r>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0926847" y="6421709"/>
            <a:ext cx="617457" cy="365125"/>
          </a:xfrm>
        </p:spPr>
        <p:txBody>
          <a:bodyPr anchor="b"/>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1030925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1348" y="644000"/>
            <a:ext cx="2594550" cy="1877132"/>
          </a:xfrm>
        </p:spPr>
        <p:txBody>
          <a:bodyPr anchor="t" anchorCtr="0">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6740" y="2899954"/>
            <a:ext cx="3610418" cy="331404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02183" y="644000"/>
            <a:ext cx="7183078"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545926" y="6438284"/>
            <a:ext cx="5276852" cy="365125"/>
          </a:xfrm>
        </p:spPr>
        <p:txBody>
          <a:bodyPr anchor="b"/>
          <a:lstStyle/>
          <a:p>
            <a:r>
              <a:rPr lang="en-US" dirty="0"/>
              <a:t>Sample footer text</a:t>
            </a:r>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6190488" y="6432496"/>
            <a:ext cx="2544079" cy="365125"/>
          </a:xfrm>
        </p:spPr>
        <p:txBody>
          <a:bodyPr anchor="b"/>
          <a:lstStyle/>
          <a:p>
            <a:endParaRPr lang="en-US" dirty="0"/>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11099128" y="6438284"/>
            <a:ext cx="429207" cy="365125"/>
          </a:xfrm>
        </p:spPr>
        <p:txBody>
          <a:bodyPr anchor="b"/>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1424674"/>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0101" y="5852160"/>
            <a:ext cx="100584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67888878"/>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96453" y="5852160"/>
            <a:ext cx="100584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r>
              <a:rPr lang="en-US" dirty="0"/>
              <a:t>Sample footer text</a:t>
            </a:r>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endParaRPr lang="en-US" dirty="0"/>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22708364"/>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1762793" y="110364"/>
            <a:ext cx="429207" cy="365125"/>
          </a:xfrm>
        </p:spPr>
        <p:txBody>
          <a:bodyPr/>
          <a:lstStyle/>
          <a:p>
            <a:fld id="{CC057153-B650-4DEB-B370-79DDCFDCE934}" type="slidenum">
              <a:rPr lang="en-US" smtClean="0"/>
              <a:pPr/>
              <a:t>‹#›</a:t>
            </a:fld>
            <a:endParaRPr lang="en-US" dirty="0"/>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193030" y="6392564"/>
            <a:ext cx="3104866" cy="365125"/>
          </a:xfrm>
        </p:spPr>
        <p:txBody>
          <a:bodyPr anchor="b"/>
          <a:lstStyle/>
          <a:p>
            <a:r>
              <a:rPr lang="en-US" dirty="0"/>
              <a:t>Sample footer text</a:t>
            </a:r>
          </a:p>
        </p:txBody>
      </p:sp>
    </p:spTree>
    <p:extLst>
      <p:ext uri="{BB962C8B-B14F-4D97-AF65-F5344CB8AC3E}">
        <p14:creationId xmlns:p14="http://schemas.microsoft.com/office/powerpoint/2010/main" val="2211133822"/>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74F0-5415-CAD7-98B3-4A75913F44B5}"/>
              </a:ext>
            </a:extLst>
          </p:cNvPr>
          <p:cNvSpPr>
            <a:spLocks noGrp="1"/>
          </p:cNvSpPr>
          <p:nvPr>
            <p:ph type="title"/>
          </p:nvPr>
        </p:nvSpPr>
        <p:spPr>
          <a:xfrm>
            <a:off x="512064" y="987552"/>
            <a:ext cx="3465576" cy="294436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151E178-0505-15CE-6ACB-7BE1FB1E52EC}"/>
              </a:ext>
            </a:extLst>
          </p:cNvPr>
          <p:cNvSpPr>
            <a:spLocks noGrp="1"/>
          </p:cNvSpPr>
          <p:nvPr>
            <p:ph type="ftr" sz="quarter" idx="11"/>
          </p:nvPr>
        </p:nvSpPr>
        <p:spPr>
          <a:xfrm>
            <a:off x="530353" y="110364"/>
            <a:ext cx="3474720" cy="365125"/>
          </a:xfrm>
        </p:spPr>
        <p:txBody>
          <a:bodyPr/>
          <a:lstStyle/>
          <a:p>
            <a:r>
              <a:rPr lang="en-US" dirty="0"/>
              <a:t>Sample footer text</a:t>
            </a:r>
          </a:p>
        </p:txBody>
      </p:sp>
      <p:sp>
        <p:nvSpPr>
          <p:cNvPr id="3" name="Date Placeholder 2">
            <a:extLst>
              <a:ext uri="{FF2B5EF4-FFF2-40B4-BE49-F238E27FC236}">
                <a16:creationId xmlns:a16="http://schemas.microsoft.com/office/drawing/2014/main" id="{9B82246E-2BFA-5BAA-F22D-A2618C05A0B2}"/>
              </a:ext>
            </a:extLst>
          </p:cNvPr>
          <p:cNvSpPr>
            <a:spLocks noGrp="1"/>
          </p:cNvSpPr>
          <p:nvPr>
            <p:ph type="dt" sz="half" idx="10"/>
          </p:nvPr>
        </p:nvSpPr>
        <p:spPr>
          <a:xfrm>
            <a:off x="4315968" y="104576"/>
            <a:ext cx="4836883" cy="365125"/>
          </a:xfrm>
        </p:spPr>
        <p:txBody>
          <a:bodyPr/>
          <a:lstStyle/>
          <a:p>
            <a:endParaRPr lang="en-US" dirty="0"/>
          </a:p>
        </p:txBody>
      </p:sp>
      <p:sp>
        <p:nvSpPr>
          <p:cNvPr id="5" name="Slide Number Placeholder 4">
            <a:extLst>
              <a:ext uri="{FF2B5EF4-FFF2-40B4-BE49-F238E27FC236}">
                <a16:creationId xmlns:a16="http://schemas.microsoft.com/office/drawing/2014/main" id="{BD4BA02B-433E-FB95-6E96-11393CDBD0CB}"/>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8" name="Content Placeholder 3">
            <a:extLst>
              <a:ext uri="{FF2B5EF4-FFF2-40B4-BE49-F238E27FC236}">
                <a16:creationId xmlns:a16="http://schemas.microsoft.com/office/drawing/2014/main" id="{F74B4B98-ABA0-9FD3-485A-984EDEEB4469}"/>
              </a:ext>
            </a:extLst>
          </p:cNvPr>
          <p:cNvSpPr>
            <a:spLocks noGrp="1"/>
          </p:cNvSpPr>
          <p:nvPr>
            <p:ph sz="quarter" idx="17"/>
          </p:nvPr>
        </p:nvSpPr>
        <p:spPr>
          <a:xfrm>
            <a:off x="4315966" y="987552"/>
            <a:ext cx="7446825"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9">
            <a:extLst>
              <a:ext uri="{FF2B5EF4-FFF2-40B4-BE49-F238E27FC236}">
                <a16:creationId xmlns:a16="http://schemas.microsoft.com/office/drawing/2014/main" id="{3822067E-4B47-03C7-3636-0C6F8324E1E9}"/>
              </a:ext>
            </a:extLst>
          </p:cNvPr>
          <p:cNvSpPr>
            <a:spLocks noGrp="1"/>
          </p:cNvSpPr>
          <p:nvPr>
            <p:ph sz="quarter" idx="18"/>
          </p:nvPr>
        </p:nvSpPr>
        <p:spPr>
          <a:xfrm>
            <a:off x="4315967" y="3931920"/>
            <a:ext cx="7446824"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41360182"/>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29C1-2D4D-0529-EAD3-926838F41BF8}"/>
              </a:ext>
            </a:extLst>
          </p:cNvPr>
          <p:cNvSpPr>
            <a:spLocks noGrp="1"/>
          </p:cNvSpPr>
          <p:nvPr>
            <p:ph type="title"/>
          </p:nvPr>
        </p:nvSpPr>
        <p:spPr>
          <a:xfrm>
            <a:off x="512064" y="630936"/>
            <a:ext cx="11018520"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A6A1D5A-FFC5-5F10-90D2-A3FBCC3129EF}"/>
              </a:ext>
            </a:extLst>
          </p:cNvPr>
          <p:cNvSpPr>
            <a:spLocks noGrp="1"/>
          </p:cNvSpPr>
          <p:nvPr>
            <p:ph type="ftr" sz="quarter" idx="11"/>
          </p:nvPr>
        </p:nvSpPr>
        <p:spPr>
          <a:xfrm>
            <a:off x="530352" y="110364"/>
            <a:ext cx="5276852" cy="365125"/>
          </a:xfrm>
        </p:spPr>
        <p:txBody>
          <a:bodyPr/>
          <a:lstStyle/>
          <a:p>
            <a:r>
              <a:rPr lang="en-US" dirty="0"/>
              <a:t>Sample footer text</a:t>
            </a:r>
          </a:p>
        </p:txBody>
      </p:sp>
      <p:sp>
        <p:nvSpPr>
          <p:cNvPr id="3" name="Date Placeholder 2">
            <a:extLst>
              <a:ext uri="{FF2B5EF4-FFF2-40B4-BE49-F238E27FC236}">
                <a16:creationId xmlns:a16="http://schemas.microsoft.com/office/drawing/2014/main" id="{FE1BD63D-FC9C-D946-5560-869AEDE315EA}"/>
              </a:ext>
            </a:extLst>
          </p:cNvPr>
          <p:cNvSpPr>
            <a:spLocks noGrp="1"/>
          </p:cNvSpPr>
          <p:nvPr>
            <p:ph type="dt" sz="half" idx="10"/>
          </p:nvPr>
        </p:nvSpPr>
        <p:spPr>
          <a:xfrm>
            <a:off x="6190488" y="104576"/>
            <a:ext cx="4836883" cy="365125"/>
          </a:xfrm>
        </p:spPr>
        <p:txBody>
          <a:bodyPr/>
          <a:lstStyle/>
          <a:p>
            <a:endParaRPr lang="en-US" dirty="0"/>
          </a:p>
        </p:txBody>
      </p:sp>
      <p:sp>
        <p:nvSpPr>
          <p:cNvPr id="5" name="Slide Number Placeholder 4">
            <a:extLst>
              <a:ext uri="{FF2B5EF4-FFF2-40B4-BE49-F238E27FC236}">
                <a16:creationId xmlns:a16="http://schemas.microsoft.com/office/drawing/2014/main" id="{822EF08D-93E2-AF7A-F559-DDB0B35B8781}"/>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6" name="Text Placeholder 2">
            <a:extLst>
              <a:ext uri="{FF2B5EF4-FFF2-40B4-BE49-F238E27FC236}">
                <a16:creationId xmlns:a16="http://schemas.microsoft.com/office/drawing/2014/main" id="{148CB9E0-8B46-6608-0C37-7C5ABA9B47A8}"/>
              </a:ext>
            </a:extLst>
          </p:cNvPr>
          <p:cNvSpPr>
            <a:spLocks noGrp="1"/>
          </p:cNvSpPr>
          <p:nvPr>
            <p:ph type="body" idx="1"/>
          </p:nvPr>
        </p:nvSpPr>
        <p:spPr>
          <a:xfrm>
            <a:off x="530352" y="2286000"/>
            <a:ext cx="5184648" cy="534033"/>
          </a:xfrm>
        </p:spPr>
        <p:txBody>
          <a:bodyPr/>
          <a:lstStyle/>
          <a:p>
            <a:endParaRPr lang="en-US" dirty="0"/>
          </a:p>
        </p:txBody>
      </p:sp>
      <p:sp>
        <p:nvSpPr>
          <p:cNvPr id="10" name="Content Placeholder 5">
            <a:extLst>
              <a:ext uri="{FF2B5EF4-FFF2-40B4-BE49-F238E27FC236}">
                <a16:creationId xmlns:a16="http://schemas.microsoft.com/office/drawing/2014/main" id="{C2C05A59-CCEE-1225-7022-B1DA682C7041}"/>
              </a:ext>
            </a:extLst>
          </p:cNvPr>
          <p:cNvSpPr>
            <a:spLocks noGrp="1"/>
          </p:cNvSpPr>
          <p:nvPr>
            <p:ph sz="quarter" idx="17"/>
          </p:nvPr>
        </p:nvSpPr>
        <p:spPr>
          <a:xfrm>
            <a:off x="530351" y="2980943"/>
            <a:ext cx="5183188" cy="35861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4">
            <a:extLst>
              <a:ext uri="{FF2B5EF4-FFF2-40B4-BE49-F238E27FC236}">
                <a16:creationId xmlns:a16="http://schemas.microsoft.com/office/drawing/2014/main" id="{86471C19-5F51-6595-B72A-4BFC1E553DC0}"/>
              </a:ext>
            </a:extLst>
          </p:cNvPr>
          <p:cNvSpPr>
            <a:spLocks noGrp="1"/>
          </p:cNvSpPr>
          <p:nvPr>
            <p:ph type="body" sz="quarter" idx="3"/>
          </p:nvPr>
        </p:nvSpPr>
        <p:spPr>
          <a:xfrm>
            <a:off x="6190488" y="2286000"/>
            <a:ext cx="5183188" cy="534033"/>
          </a:xfrm>
        </p:spPr>
        <p:txBody>
          <a:bodyPr/>
          <a:lstStyle/>
          <a:p>
            <a:endParaRPr lang="en-US" dirty="0"/>
          </a:p>
        </p:txBody>
      </p:sp>
      <p:sp>
        <p:nvSpPr>
          <p:cNvPr id="11" name="Content Placeholder 11">
            <a:extLst>
              <a:ext uri="{FF2B5EF4-FFF2-40B4-BE49-F238E27FC236}">
                <a16:creationId xmlns:a16="http://schemas.microsoft.com/office/drawing/2014/main" id="{0AB20C10-A144-EF5E-8276-7E736CE87590}"/>
              </a:ext>
            </a:extLst>
          </p:cNvPr>
          <p:cNvSpPr>
            <a:spLocks noGrp="1"/>
          </p:cNvSpPr>
          <p:nvPr>
            <p:ph sz="quarter" idx="18"/>
          </p:nvPr>
        </p:nvSpPr>
        <p:spPr>
          <a:xfrm>
            <a:off x="6190488" y="2980944"/>
            <a:ext cx="5183188" cy="3586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1523919"/>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0352" y="109728"/>
            <a:ext cx="5276852" cy="365125"/>
          </a:xfrm>
        </p:spPr>
        <p:txBody>
          <a:bodyPr/>
          <a:lstStyle/>
          <a:p>
            <a:r>
              <a:rPr lang="en-US" dirty="0"/>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231928" y="110364"/>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51961659"/>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1"/>
            <a:ext cx="5898630" cy="365125"/>
          </a:xfrm>
        </p:spPr>
        <p:txBody>
          <a:bodyPr/>
          <a:lstStyle/>
          <a:p>
            <a:r>
              <a:rPr lang="en-US" dirty="0"/>
              <a:t>Sample footer text</a:t>
            </a:r>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6217920" y="100701"/>
            <a:ext cx="5332001" cy="365125"/>
          </a:xfrm>
        </p:spPr>
        <p:txBody>
          <a:bodyPr/>
          <a:lstStyle/>
          <a:p>
            <a:endParaRPr lang="en-US" dirty="0"/>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38431965"/>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5926" y="655093"/>
            <a:ext cx="10982409" cy="1528549"/>
          </a:xfrm>
        </p:spPr>
        <p:txBody>
          <a:bodyPr anchor="t">
            <a:noAutofit/>
          </a:bodyPr>
          <a:lstStyle>
            <a:lvl1pPr>
              <a:defRPr sz="5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5926" y="2497540"/>
            <a:ext cx="10982409" cy="338464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545926" y="6438284"/>
            <a:ext cx="5276852" cy="365125"/>
          </a:xfrm>
        </p:spPr>
        <p:txBody>
          <a:bodyPr/>
          <a:lstStyle/>
          <a:p>
            <a:r>
              <a:rPr lang="en-US" dirty="0"/>
              <a:t>Sample footer text</a:t>
            </a:r>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6190488" y="6432496"/>
            <a:ext cx="2544079" cy="365125"/>
          </a:xfrm>
        </p:spPr>
        <p:txBody>
          <a:bodyPr/>
          <a:lstStyle/>
          <a:p>
            <a:endParaRPr lang="en-US" dirty="0"/>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11099128" y="6438284"/>
            <a:ext cx="429207" cy="365125"/>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979297804"/>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18615" y="2883090"/>
            <a:ext cx="7741851" cy="1842020"/>
          </a:xfrm>
        </p:spPr>
        <p:txBody>
          <a:bodyPr anchor="b">
            <a:noAutofit/>
          </a:bodyPr>
          <a:lstStyle>
            <a:lvl1pPr>
              <a:defRPr sz="5600"/>
            </a:lvl1pPr>
          </a:lstStyle>
          <a:p>
            <a:r>
              <a:rPr lang="en-US"/>
              <a:t>Click to edit Master title style</a:t>
            </a:r>
            <a:endParaRPr lang="en-US" dirty="0"/>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536906" y="100701"/>
            <a:ext cx="5361724" cy="365125"/>
          </a:xfrm>
        </p:spPr>
        <p:txBody>
          <a:bodyPr/>
          <a:lstStyle/>
          <a:p>
            <a:r>
              <a:rPr lang="en-US" dirty="0"/>
              <a:t>Sample footer text</a:t>
            </a:r>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6217921" y="100701"/>
            <a:ext cx="2526030" cy="365125"/>
          </a:xfrm>
        </p:spPr>
        <p:txBody>
          <a:bodyPr/>
          <a:lstStyle/>
          <a:p>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6905" y="4922111"/>
            <a:ext cx="7741850" cy="1279615"/>
          </a:xfrm>
        </p:spPr>
        <p:txBody>
          <a:bodyPr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762793" y="6392174"/>
            <a:ext cx="429207" cy="365125"/>
          </a:xfrm>
        </p:spPr>
        <p:txBody>
          <a:bodyPr anchor="b"/>
          <a:lstStyle/>
          <a:p>
            <a:fld id="{CC057153-B650-4DEB-B370-79DDCFDCE934}" type="slidenum">
              <a:rPr lang="en-US" smtClean="0"/>
              <a:t>‹#›</a:t>
            </a:fld>
            <a:endParaRPr lang="en-US" dirty="0"/>
          </a:p>
        </p:txBody>
      </p:sp>
      <p:sp>
        <p:nvSpPr>
          <p:cNvPr id="3" name="Oval 2">
            <a:extLst>
              <a:ext uri="{FF2B5EF4-FFF2-40B4-BE49-F238E27FC236}">
                <a16:creationId xmlns:a16="http://schemas.microsoft.com/office/drawing/2014/main" id="{D3CF16D9-01F3-6CE6-7291-C344E099BBD0}"/>
              </a:ext>
            </a:extLst>
          </p:cNvPr>
          <p:cNvSpPr/>
          <p:nvPr/>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51862325"/>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4536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 y="644663"/>
            <a:ext cx="12001592" cy="10883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90488" y="104576"/>
            <a:ext cx="4836883"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4501" y="110364"/>
            <a:ext cx="5276852"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762792" y="110364"/>
            <a:ext cx="429207" cy="365125"/>
          </a:xfrm>
          <a:prstGeom prst="rect">
            <a:avLst/>
          </a:prstGeom>
        </p:spPr>
        <p:txBody>
          <a:bodyPr vert="horz" lIns="91440" tIns="45720" rIns="91440" bIns="45720" rtlCol="0" anchor="t"/>
          <a:lstStyle>
            <a:lvl1pPr algn="r" rtl="0">
              <a:lnSpc>
                <a:spcPct val="80000"/>
              </a:lnSpc>
              <a:defRPr sz="1000">
                <a:solidFill>
                  <a:schemeClr val="tx1"/>
                </a:solidFill>
                <a:latin typeface="+mn-lt"/>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1"/>
            <a:ext cx="12001592"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372060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Lst>
  <p:hf sldNum="0" hdr="0" ftr="0" dt="0"/>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2"/>
          <p:cNvSpPr txBox="1"/>
          <p:nvPr/>
        </p:nvSpPr>
        <p:spPr>
          <a:xfrm>
            <a:off x="822960" y="2240280"/>
            <a:ext cx="7315200" cy="320040"/>
          </a:xfrm>
          <a:prstGeom prst="rect">
            <a:avLst/>
          </a:prstGeom>
          <a:noFill/>
          <a:ln/>
        </p:spPr>
        <p:txBody>
          <a:bodyPr wrap="square" lIns="0" tIns="0" rIns="0" bIns="0" rtlCol="0" anchor="ctr"/>
          <a:lstStyle/>
          <a:p>
            <a:pPr marL="0" indent="0">
              <a:buNone/>
            </a:pPr>
            <a:r>
              <a:rPr lang="en-US" sz="1200" b="1" kern="0" spc="300" dirty="0">
                <a:solidFill>
                  <a:srgbClr val="0DA98C"/>
                </a:solidFill>
                <a:latin typeface="Calibri" pitchFamily="34" charset="0"/>
                <a:ea typeface="Calibri" pitchFamily="34" charset="-122"/>
                <a:cs typeface="Calibri" pitchFamily="34" charset="-120"/>
              </a:rPr>
              <a:t>AI-POWERED LIFESTYLE ASSESSMENT</a:t>
            </a:r>
            <a:endParaRPr lang="en-US" sz="1200" dirty="0"/>
          </a:p>
        </p:txBody>
      </p:sp>
      <p:sp>
        <p:nvSpPr>
          <p:cNvPr id="5" name="Text 3"/>
          <p:cNvSpPr txBox="1"/>
          <p:nvPr/>
        </p:nvSpPr>
        <p:spPr>
          <a:xfrm>
            <a:off x="822960" y="2697480"/>
            <a:ext cx="9601200" cy="1737360"/>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Multilingual Clinical</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Dialogue System</a:t>
            </a:r>
            <a:endParaRPr lang="en-US" sz="4400" dirty="0"/>
          </a:p>
        </p:txBody>
      </p:sp>
      <p:sp>
        <p:nvSpPr>
          <p:cNvPr id="6" name="Text 4"/>
          <p:cNvSpPr txBox="1"/>
          <p:nvPr/>
        </p:nvSpPr>
        <p:spPr>
          <a:xfrm>
            <a:off x="822960" y="4617720"/>
            <a:ext cx="6400800" cy="320040"/>
          </a:xfrm>
          <a:prstGeom prst="rect">
            <a:avLst/>
          </a:prstGeom>
          <a:noFill/>
          <a:ln/>
        </p:spPr>
        <p:txBody>
          <a:bodyPr wrap="square" lIns="0" tIns="0" rIns="0" bIns="0" rtlCol="0" anchor="ctr"/>
          <a:lstStyle/>
          <a:p>
            <a:pPr marL="0" indent="0">
              <a:buNone/>
            </a:pPr>
            <a:r>
              <a:rPr lang="en-US" sz="1500" i="1" dirty="0">
                <a:solidFill>
                  <a:srgbClr val="C9DBD7"/>
                </a:solidFill>
                <a:latin typeface="Calibri" pitchFamily="34" charset="0"/>
                <a:ea typeface="Calibri" pitchFamily="34" charset="-122"/>
                <a:cs typeface="Calibri" pitchFamily="34" charset="-120"/>
              </a:rPr>
              <a:t>Presented by Nidhi Sinha &amp; Sarvesh Parab</a:t>
            </a:r>
            <a:endParaRPr lang="en-US" sz="1500" dirty="0"/>
          </a:p>
        </p:txBody>
      </p:sp>
      <p:sp>
        <p:nvSpPr>
          <p:cNvPr id="7" name="Text 5"/>
          <p:cNvSpPr txBox="1"/>
          <p:nvPr/>
        </p:nvSpPr>
        <p:spPr>
          <a:xfrm>
            <a:off x="822960" y="5047488"/>
            <a:ext cx="7772400" cy="274320"/>
          </a:xfrm>
          <a:prstGeom prst="rect">
            <a:avLst/>
          </a:prstGeom>
          <a:noFill/>
          <a:ln/>
        </p:spPr>
        <p:txBody>
          <a:bodyPr wrap="square" lIns="0" tIns="0" rIns="0" bIns="0" rtlCol="0" anchor="ctr"/>
          <a:lstStyle/>
          <a:p>
            <a:pPr marL="0" indent="0">
              <a:buNone/>
            </a:pPr>
            <a:r>
              <a:rPr lang="en-US" sz="1100" kern="0" spc="100" dirty="0">
                <a:solidFill>
                  <a:srgbClr val="7FA39D"/>
                </a:solidFill>
                <a:latin typeface="Calibri" pitchFamily="34" charset="0"/>
                <a:ea typeface="Calibri" pitchFamily="34" charset="-122"/>
                <a:cs typeface="Calibri" pitchFamily="34" charset="-120"/>
              </a:rPr>
              <a:t>Django  ·  Next.js  ·  Groq  ·  scispaCy  ·  ChromaDB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65760"/>
            <a:ext cx="10881360" cy="731520"/>
          </a:xfrm>
          <a:prstGeom prst="rect">
            <a:avLst/>
          </a:prstGeom>
          <a:noFill/>
        </p:spPr>
        <p:txBody>
          <a:bodyPr wrap="square" lIns="0" tIns="0" rIns="0" bIns="0" anchor="ctr">
            <a:spAutoFit/>
          </a:bodyPr>
          <a:lstStyle/>
          <a:p>
            <a:pPr algn="l"/>
            <a:r>
              <a:rPr sz="3200" b="1">
                <a:solidFill>
                  <a:srgbClr val="0C3833"/>
                </a:solidFill>
                <a:latin typeface="Cambria"/>
              </a:rPr>
              <a:t>Problem, Solution &amp; Objectives</a:t>
            </a:r>
          </a:p>
        </p:txBody>
      </p:sp>
      <p:sp>
        <p:nvSpPr>
          <p:cNvPr id="3" name="Rounded Rectangle 2"/>
          <p:cNvSpPr/>
          <p:nvPr/>
        </p:nvSpPr>
        <p:spPr>
          <a:xfrm>
            <a:off x="640080" y="1371600"/>
            <a:ext cx="5074920" cy="4937760"/>
          </a:xfrm>
          <a:prstGeom prst="roundRect">
            <a:avLst>
              <a:gd name="adj" fmla="val 4000"/>
            </a:avLst>
          </a:prstGeom>
          <a:solidFill>
            <a:srgbClr val="F1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1645920"/>
            <a:ext cx="4389120" cy="228600"/>
          </a:xfrm>
          <a:prstGeom prst="rect">
            <a:avLst/>
          </a:prstGeom>
          <a:noFill/>
        </p:spPr>
        <p:txBody>
          <a:bodyPr wrap="square" lIns="0" tIns="0" rIns="0" bIns="0" anchor="ctr">
            <a:spAutoFit/>
          </a:bodyPr>
          <a:lstStyle/>
          <a:p>
            <a:pPr algn="l"/>
            <a:r>
              <a:rPr sz="1100" b="1" spc="200">
                <a:solidFill>
                  <a:srgbClr val="0E7C8A"/>
                </a:solidFill>
                <a:latin typeface="Calibri"/>
              </a:rPr>
              <a:t>THE PROBLEM</a:t>
            </a:r>
          </a:p>
        </p:txBody>
      </p:sp>
      <p:sp>
        <p:nvSpPr>
          <p:cNvPr id="5" name="TextBox 4"/>
          <p:cNvSpPr txBox="1"/>
          <p:nvPr/>
        </p:nvSpPr>
        <p:spPr>
          <a:xfrm>
            <a:off x="960120" y="2194560"/>
            <a:ext cx="4480560" cy="3931920"/>
          </a:xfrm>
          <a:prstGeom prst="rect">
            <a:avLst/>
          </a:prstGeom>
          <a:noFill/>
        </p:spPr>
        <p:txBody>
          <a:bodyPr wrap="square" lIns="0" tIns="0" rIns="0" bIns="0" anchor="t">
            <a:spAutoFit/>
          </a:bodyPr>
          <a:lstStyle/>
          <a:p>
            <a:pPr marL="201168" indent="-201168" algn="l">
              <a:spcAft>
                <a:spcPts val="2200"/>
              </a:spcAft>
              <a:buClr>
                <a:srgbClr val="0DA98C"/>
              </a:buClr>
              <a:buChar char="•"/>
            </a:pPr>
            <a:r>
              <a:rPr sz="1600" b="0">
                <a:solidFill>
                  <a:srgbClr val="27403D"/>
                </a:solidFill>
                <a:latin typeface="Calibri"/>
              </a:rPr>
              <a:t>Many diseases are strongly influenced by lifestyle habits</a:t>
            </a:r>
          </a:p>
          <a:p>
            <a:pPr marL="201168" indent="-201168" algn="l">
              <a:spcAft>
                <a:spcPts val="2200"/>
              </a:spcAft>
              <a:buClr>
                <a:srgbClr val="0DA98C"/>
              </a:buClr>
              <a:buChar char="•"/>
            </a:pPr>
            <a:r>
              <a:rPr sz="1600" b="0">
                <a:solidFill>
                  <a:srgbClr val="27403D"/>
                </a:solidFill>
                <a:latin typeface="Calibri"/>
              </a:rPr>
              <a:t>Doctors have limited consultation time</a:t>
            </a:r>
          </a:p>
          <a:p>
            <a:pPr marL="201168" indent="-201168" algn="l">
              <a:spcAft>
                <a:spcPts val="2200"/>
              </a:spcAft>
              <a:buClr>
                <a:srgbClr val="0DA98C"/>
              </a:buClr>
              <a:buChar char="•"/>
            </a:pPr>
            <a:r>
              <a:rPr sz="1600" b="0">
                <a:solidFill>
                  <a:srgbClr val="27403D"/>
                </a:solidFill>
                <a:latin typeface="Calibri"/>
              </a:rPr>
              <a:t>Patients may forget to mention lifestyle habits</a:t>
            </a:r>
          </a:p>
          <a:p>
            <a:pPr marL="201168" indent="-201168" algn="l">
              <a:spcAft>
                <a:spcPts val="2200"/>
              </a:spcAft>
              <a:buClr>
                <a:srgbClr val="0DA98C"/>
              </a:buClr>
              <a:buChar char="•"/>
            </a:pPr>
            <a:r>
              <a:rPr sz="1600" b="0">
                <a:solidFill>
                  <a:srgbClr val="27403D"/>
                </a:solidFill>
                <a:latin typeface="Calibri"/>
              </a:rPr>
              <a:t>Language barriers make detailed history-taking harder</a:t>
            </a:r>
          </a:p>
          <a:p>
            <a:pPr marL="201168" indent="-201168" algn="l">
              <a:spcAft>
                <a:spcPts val="2200"/>
              </a:spcAft>
              <a:buClr>
                <a:srgbClr val="0DA98C"/>
              </a:buClr>
              <a:buChar char="•"/>
            </a:pPr>
            <a:r>
              <a:rPr sz="1600" b="0">
                <a:solidFill>
                  <a:srgbClr val="27403D"/>
                </a:solidFill>
                <a:latin typeface="Calibri"/>
              </a:rPr>
              <a:t>Lifestyle information is often incomplete</a:t>
            </a:r>
          </a:p>
          <a:p>
            <a:pPr marL="201168" indent="-201168" algn="l">
              <a:spcAft>
                <a:spcPts val="2200"/>
              </a:spcAft>
              <a:buClr>
                <a:srgbClr val="0DA98C"/>
              </a:buClr>
              <a:buChar char="•"/>
            </a:pPr>
            <a:r>
              <a:rPr sz="1600" b="0">
                <a:solidFill>
                  <a:srgbClr val="27403D"/>
                </a:solidFill>
                <a:latin typeface="Calibri"/>
              </a:rPr>
              <a:t>Important health risks may go unnoticed</a:t>
            </a:r>
          </a:p>
        </p:txBody>
      </p:sp>
      <p:sp>
        <p:nvSpPr>
          <p:cNvPr id="6" name="Rounded Rectangle 5"/>
          <p:cNvSpPr/>
          <p:nvPr/>
        </p:nvSpPr>
        <p:spPr>
          <a:xfrm>
            <a:off x="5989320" y="1371600"/>
            <a:ext cx="5559552" cy="2103120"/>
          </a:xfrm>
          <a:prstGeom prst="roundRect">
            <a:avLst>
              <a:gd name="adj" fmla="val 4000"/>
            </a:avLst>
          </a:prstGeom>
          <a:solidFill>
            <a:srgbClr val="0E7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09360" y="1600200"/>
            <a:ext cx="4937760" cy="228600"/>
          </a:xfrm>
          <a:prstGeom prst="rect">
            <a:avLst/>
          </a:prstGeom>
          <a:noFill/>
        </p:spPr>
        <p:txBody>
          <a:bodyPr wrap="square" lIns="0" tIns="0" rIns="0" bIns="0" anchor="ctr">
            <a:spAutoFit/>
          </a:bodyPr>
          <a:lstStyle/>
          <a:p>
            <a:pPr algn="l"/>
            <a:r>
              <a:rPr sz="1100" b="1" spc="200">
                <a:solidFill>
                  <a:srgbClr val="8FE3D6"/>
                </a:solidFill>
                <a:latin typeface="Calibri"/>
              </a:rPr>
              <a:t>THE SOLUTION</a:t>
            </a:r>
          </a:p>
        </p:txBody>
      </p:sp>
      <p:sp>
        <p:nvSpPr>
          <p:cNvPr id="8" name="TextBox 7"/>
          <p:cNvSpPr txBox="1"/>
          <p:nvPr/>
        </p:nvSpPr>
        <p:spPr>
          <a:xfrm>
            <a:off x="6309360" y="1920240"/>
            <a:ext cx="4937760" cy="1417320"/>
          </a:xfrm>
          <a:prstGeom prst="rect">
            <a:avLst/>
          </a:prstGeom>
          <a:noFill/>
        </p:spPr>
        <p:txBody>
          <a:bodyPr wrap="square" lIns="0" tIns="0" rIns="0" bIns="0" anchor="t">
            <a:spAutoFit/>
          </a:bodyPr>
          <a:lstStyle/>
          <a:p>
            <a:pPr algn="l"/>
            <a:r>
              <a:rPr sz="1500" b="0">
                <a:solidFill>
                  <a:srgbClr val="FFFFFF"/>
                </a:solidFill>
                <a:latin typeface="Calibri"/>
              </a:rPr>
              <a:t>An AI assistant collects lifestyle information during the doctor–patient conversation in the patient's own language, scores it against a fixed clinical rubric, and gives the doctor a reviewable summary with guideline-backed recommendations.</a:t>
            </a:r>
          </a:p>
        </p:txBody>
      </p:sp>
      <p:sp>
        <p:nvSpPr>
          <p:cNvPr id="9" name="TextBox 8"/>
          <p:cNvSpPr txBox="1"/>
          <p:nvPr/>
        </p:nvSpPr>
        <p:spPr>
          <a:xfrm>
            <a:off x="5989320" y="3657600"/>
            <a:ext cx="5029200" cy="228600"/>
          </a:xfrm>
          <a:prstGeom prst="rect">
            <a:avLst/>
          </a:prstGeom>
          <a:noFill/>
        </p:spPr>
        <p:txBody>
          <a:bodyPr wrap="square" lIns="0" tIns="0" rIns="0" bIns="0" anchor="ctr">
            <a:spAutoFit/>
          </a:bodyPr>
          <a:lstStyle/>
          <a:p>
            <a:pPr algn="l"/>
            <a:r>
              <a:rPr sz="1100" b="1" spc="200">
                <a:solidFill>
                  <a:srgbClr val="0E7C8A"/>
                </a:solidFill>
                <a:latin typeface="Calibri"/>
              </a:rPr>
              <a:t>OBJECTIVES</a:t>
            </a:r>
          </a:p>
        </p:txBody>
      </p:sp>
      <p:sp>
        <p:nvSpPr>
          <p:cNvPr id="10" name="Rounded Rectangle 9"/>
          <p:cNvSpPr/>
          <p:nvPr/>
        </p:nvSpPr>
        <p:spPr>
          <a:xfrm>
            <a:off x="5989320" y="3977639"/>
            <a:ext cx="2734056" cy="731520"/>
          </a:xfrm>
          <a:prstGeom prst="roundRect">
            <a:avLst>
              <a:gd name="adj" fmla="val 4000"/>
            </a:avLst>
          </a:prstGeom>
          <a:solidFill>
            <a:srgbClr val="F1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126480" y="4160520"/>
            <a:ext cx="365760" cy="365760"/>
          </a:xfrm>
          <a:prstGeom prst="ellipse">
            <a:avLst/>
          </a:prstGeom>
          <a:solidFill>
            <a:srgbClr val="0DA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26480" y="4160520"/>
            <a:ext cx="365760" cy="365760"/>
          </a:xfrm>
          <a:prstGeom prst="rect">
            <a:avLst/>
          </a:prstGeom>
          <a:noFill/>
        </p:spPr>
        <p:txBody>
          <a:bodyPr wrap="square" lIns="0" tIns="0" rIns="0" bIns="0" anchor="ctr">
            <a:spAutoFit/>
          </a:bodyPr>
          <a:lstStyle/>
          <a:p>
            <a:pPr algn="ctr"/>
            <a:r>
              <a:rPr sz="1200" b="1">
                <a:solidFill>
                  <a:srgbClr val="FFFFFF"/>
                </a:solidFill>
                <a:latin typeface="Calibri"/>
              </a:rPr>
              <a:t>1</a:t>
            </a:r>
          </a:p>
        </p:txBody>
      </p:sp>
      <p:sp>
        <p:nvSpPr>
          <p:cNvPr id="13" name="TextBox 12"/>
          <p:cNvSpPr txBox="1"/>
          <p:nvPr/>
        </p:nvSpPr>
        <p:spPr>
          <a:xfrm>
            <a:off x="6611112" y="4050791"/>
            <a:ext cx="2002536" cy="585216"/>
          </a:xfrm>
          <a:prstGeom prst="rect">
            <a:avLst/>
          </a:prstGeom>
          <a:noFill/>
        </p:spPr>
        <p:txBody>
          <a:bodyPr wrap="square" lIns="0" tIns="0" rIns="0" bIns="0" anchor="ctr">
            <a:spAutoFit/>
          </a:bodyPr>
          <a:lstStyle/>
          <a:p>
            <a:pPr algn="l"/>
            <a:r>
              <a:rPr sz="1200" b="0">
                <a:solidFill>
                  <a:srgbClr val="27403D"/>
                </a:solidFill>
                <a:latin typeface="Calibri"/>
              </a:rPr>
              <a:t>Collect lifestyle info during clinical conversations</a:t>
            </a:r>
          </a:p>
        </p:txBody>
      </p:sp>
      <p:sp>
        <p:nvSpPr>
          <p:cNvPr id="14" name="Rounded Rectangle 13"/>
          <p:cNvSpPr/>
          <p:nvPr/>
        </p:nvSpPr>
        <p:spPr>
          <a:xfrm>
            <a:off x="8814816" y="3977639"/>
            <a:ext cx="2734056" cy="731520"/>
          </a:xfrm>
          <a:prstGeom prst="roundRect">
            <a:avLst>
              <a:gd name="adj" fmla="val 4000"/>
            </a:avLst>
          </a:prstGeom>
          <a:solidFill>
            <a:srgbClr val="F1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951976" y="4160520"/>
            <a:ext cx="365760" cy="365760"/>
          </a:xfrm>
          <a:prstGeom prst="ellipse">
            <a:avLst/>
          </a:prstGeom>
          <a:solidFill>
            <a:srgbClr val="0DA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51976" y="4160520"/>
            <a:ext cx="365760" cy="365760"/>
          </a:xfrm>
          <a:prstGeom prst="rect">
            <a:avLst/>
          </a:prstGeom>
          <a:noFill/>
        </p:spPr>
        <p:txBody>
          <a:bodyPr wrap="square" lIns="0" tIns="0" rIns="0" bIns="0" anchor="ctr">
            <a:spAutoFit/>
          </a:bodyPr>
          <a:lstStyle/>
          <a:p>
            <a:pPr algn="ctr"/>
            <a:r>
              <a:rPr sz="1200" b="1">
                <a:solidFill>
                  <a:srgbClr val="FFFFFF"/>
                </a:solidFill>
                <a:latin typeface="Calibri"/>
              </a:rPr>
              <a:t>2</a:t>
            </a:r>
          </a:p>
        </p:txBody>
      </p:sp>
      <p:sp>
        <p:nvSpPr>
          <p:cNvPr id="17" name="TextBox 16"/>
          <p:cNvSpPr txBox="1"/>
          <p:nvPr/>
        </p:nvSpPr>
        <p:spPr>
          <a:xfrm>
            <a:off x="9436608" y="4050791"/>
            <a:ext cx="2002536" cy="585216"/>
          </a:xfrm>
          <a:prstGeom prst="rect">
            <a:avLst/>
          </a:prstGeom>
          <a:noFill/>
        </p:spPr>
        <p:txBody>
          <a:bodyPr wrap="square" lIns="0" tIns="0" rIns="0" bIns="0" anchor="ctr">
            <a:spAutoFit/>
          </a:bodyPr>
          <a:lstStyle/>
          <a:p>
            <a:pPr algn="l"/>
            <a:r>
              <a:rPr sz="1200" b="0">
                <a:solidFill>
                  <a:srgbClr val="27403D"/>
                </a:solidFill>
                <a:latin typeface="Calibri"/>
              </a:rPr>
              <a:t>Analyse habits across 8 lifestyle areas</a:t>
            </a:r>
          </a:p>
        </p:txBody>
      </p:sp>
      <p:sp>
        <p:nvSpPr>
          <p:cNvPr id="18" name="Rounded Rectangle 17"/>
          <p:cNvSpPr/>
          <p:nvPr/>
        </p:nvSpPr>
        <p:spPr>
          <a:xfrm>
            <a:off x="5989320" y="4800600"/>
            <a:ext cx="2734056" cy="731520"/>
          </a:xfrm>
          <a:prstGeom prst="roundRect">
            <a:avLst>
              <a:gd name="adj" fmla="val 4000"/>
            </a:avLst>
          </a:prstGeom>
          <a:solidFill>
            <a:srgbClr val="F1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126480" y="4983480"/>
            <a:ext cx="365760" cy="365760"/>
          </a:xfrm>
          <a:prstGeom prst="ellipse">
            <a:avLst/>
          </a:prstGeom>
          <a:solidFill>
            <a:srgbClr val="0DA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26480" y="4983480"/>
            <a:ext cx="365760" cy="365760"/>
          </a:xfrm>
          <a:prstGeom prst="rect">
            <a:avLst/>
          </a:prstGeom>
          <a:noFill/>
        </p:spPr>
        <p:txBody>
          <a:bodyPr wrap="square" lIns="0" tIns="0" rIns="0" bIns="0" anchor="ctr">
            <a:spAutoFit/>
          </a:bodyPr>
          <a:lstStyle/>
          <a:p>
            <a:pPr algn="ctr"/>
            <a:r>
              <a:rPr sz="1200" b="1">
                <a:solidFill>
                  <a:srgbClr val="FFFFFF"/>
                </a:solidFill>
                <a:latin typeface="Calibri"/>
              </a:rPr>
              <a:t>3</a:t>
            </a:r>
          </a:p>
        </p:txBody>
      </p:sp>
      <p:sp>
        <p:nvSpPr>
          <p:cNvPr id="21" name="TextBox 20"/>
          <p:cNvSpPr txBox="1"/>
          <p:nvPr/>
        </p:nvSpPr>
        <p:spPr>
          <a:xfrm>
            <a:off x="6611112" y="4873752"/>
            <a:ext cx="2002536" cy="585216"/>
          </a:xfrm>
          <a:prstGeom prst="rect">
            <a:avLst/>
          </a:prstGeom>
          <a:noFill/>
        </p:spPr>
        <p:txBody>
          <a:bodyPr wrap="square" lIns="0" tIns="0" rIns="0" bIns="0" anchor="ctr">
            <a:spAutoFit/>
          </a:bodyPr>
          <a:lstStyle/>
          <a:p>
            <a:pPr algn="l"/>
            <a:r>
              <a:rPr sz="1200" b="0">
                <a:solidFill>
                  <a:srgbClr val="27403D"/>
                </a:solidFill>
                <a:latin typeface="Calibri"/>
              </a:rPr>
              <a:t>Detect possible lifestyle-related health risks</a:t>
            </a:r>
          </a:p>
        </p:txBody>
      </p:sp>
      <p:sp>
        <p:nvSpPr>
          <p:cNvPr id="22" name="Rounded Rectangle 21"/>
          <p:cNvSpPr/>
          <p:nvPr/>
        </p:nvSpPr>
        <p:spPr>
          <a:xfrm>
            <a:off x="8814816" y="4800600"/>
            <a:ext cx="2734056" cy="731520"/>
          </a:xfrm>
          <a:prstGeom prst="roundRect">
            <a:avLst>
              <a:gd name="adj" fmla="val 4000"/>
            </a:avLst>
          </a:prstGeom>
          <a:solidFill>
            <a:srgbClr val="F1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951976" y="4983480"/>
            <a:ext cx="365760" cy="365760"/>
          </a:xfrm>
          <a:prstGeom prst="ellipse">
            <a:avLst/>
          </a:prstGeom>
          <a:solidFill>
            <a:srgbClr val="0DA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51976" y="4983480"/>
            <a:ext cx="365760" cy="365760"/>
          </a:xfrm>
          <a:prstGeom prst="rect">
            <a:avLst/>
          </a:prstGeom>
          <a:noFill/>
        </p:spPr>
        <p:txBody>
          <a:bodyPr wrap="square" lIns="0" tIns="0" rIns="0" bIns="0" anchor="ctr">
            <a:spAutoFit/>
          </a:bodyPr>
          <a:lstStyle/>
          <a:p>
            <a:pPr algn="ctr"/>
            <a:r>
              <a:rPr sz="1200" b="1">
                <a:solidFill>
                  <a:srgbClr val="FFFFFF"/>
                </a:solidFill>
                <a:latin typeface="Calibri"/>
              </a:rPr>
              <a:t>4</a:t>
            </a:r>
          </a:p>
        </p:txBody>
      </p:sp>
      <p:sp>
        <p:nvSpPr>
          <p:cNvPr id="25" name="TextBox 24"/>
          <p:cNvSpPr txBox="1"/>
          <p:nvPr/>
        </p:nvSpPr>
        <p:spPr>
          <a:xfrm>
            <a:off x="9436608" y="4873752"/>
            <a:ext cx="2002536" cy="585216"/>
          </a:xfrm>
          <a:prstGeom prst="rect">
            <a:avLst/>
          </a:prstGeom>
          <a:noFill/>
        </p:spPr>
        <p:txBody>
          <a:bodyPr wrap="square" lIns="0" tIns="0" rIns="0" bIns="0" anchor="ctr">
            <a:spAutoFit/>
          </a:bodyPr>
          <a:lstStyle/>
          <a:p>
            <a:pPr algn="l"/>
            <a:r>
              <a:rPr sz="1200" b="0">
                <a:solidFill>
                  <a:srgbClr val="27403D"/>
                </a:solidFill>
                <a:latin typeface="Calibri"/>
              </a:rPr>
              <a:t>Generate a deterministic Lifestyle Wellness Score</a:t>
            </a:r>
          </a:p>
        </p:txBody>
      </p:sp>
      <p:sp>
        <p:nvSpPr>
          <p:cNvPr id="26" name="Rounded Rectangle 25"/>
          <p:cNvSpPr/>
          <p:nvPr/>
        </p:nvSpPr>
        <p:spPr>
          <a:xfrm>
            <a:off x="5989320" y="5623559"/>
            <a:ext cx="2734056" cy="731520"/>
          </a:xfrm>
          <a:prstGeom prst="roundRect">
            <a:avLst>
              <a:gd name="adj" fmla="val 4000"/>
            </a:avLst>
          </a:prstGeom>
          <a:solidFill>
            <a:srgbClr val="F1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126480" y="5806440"/>
            <a:ext cx="365760" cy="365760"/>
          </a:xfrm>
          <a:prstGeom prst="ellipse">
            <a:avLst/>
          </a:prstGeom>
          <a:solidFill>
            <a:srgbClr val="0DA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126480" y="5806440"/>
            <a:ext cx="365760" cy="365760"/>
          </a:xfrm>
          <a:prstGeom prst="rect">
            <a:avLst/>
          </a:prstGeom>
          <a:noFill/>
        </p:spPr>
        <p:txBody>
          <a:bodyPr wrap="square" lIns="0" tIns="0" rIns="0" bIns="0" anchor="ctr">
            <a:spAutoFit/>
          </a:bodyPr>
          <a:lstStyle/>
          <a:p>
            <a:pPr algn="ctr"/>
            <a:r>
              <a:rPr sz="1200" b="1">
                <a:solidFill>
                  <a:srgbClr val="FFFFFF"/>
                </a:solidFill>
                <a:latin typeface="Calibri"/>
              </a:rPr>
              <a:t>5</a:t>
            </a:r>
          </a:p>
        </p:txBody>
      </p:sp>
      <p:sp>
        <p:nvSpPr>
          <p:cNvPr id="29" name="TextBox 28"/>
          <p:cNvSpPr txBox="1"/>
          <p:nvPr/>
        </p:nvSpPr>
        <p:spPr>
          <a:xfrm>
            <a:off x="6611112" y="5696712"/>
            <a:ext cx="2002536" cy="585216"/>
          </a:xfrm>
          <a:prstGeom prst="rect">
            <a:avLst/>
          </a:prstGeom>
          <a:noFill/>
        </p:spPr>
        <p:txBody>
          <a:bodyPr wrap="square" lIns="0" tIns="0" rIns="0" bIns="0" anchor="ctr">
            <a:spAutoFit/>
          </a:bodyPr>
          <a:lstStyle/>
          <a:p>
            <a:pPr algn="l"/>
            <a:r>
              <a:rPr sz="1200" b="0">
                <a:solidFill>
                  <a:srgbClr val="27403D"/>
                </a:solidFill>
                <a:latin typeface="Calibri"/>
              </a:rPr>
              <a:t>Give guideline-grounded personalised advice</a:t>
            </a:r>
          </a:p>
        </p:txBody>
      </p:sp>
      <p:sp>
        <p:nvSpPr>
          <p:cNvPr id="30" name="Rounded Rectangle 29"/>
          <p:cNvSpPr/>
          <p:nvPr/>
        </p:nvSpPr>
        <p:spPr>
          <a:xfrm>
            <a:off x="8814816" y="5623559"/>
            <a:ext cx="2734056" cy="731520"/>
          </a:xfrm>
          <a:prstGeom prst="roundRect">
            <a:avLst>
              <a:gd name="adj" fmla="val 4000"/>
            </a:avLst>
          </a:prstGeom>
          <a:solidFill>
            <a:srgbClr val="F1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8951976" y="5806440"/>
            <a:ext cx="365760" cy="365760"/>
          </a:xfrm>
          <a:prstGeom prst="ellipse">
            <a:avLst/>
          </a:prstGeom>
          <a:solidFill>
            <a:srgbClr val="0DA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951976" y="5806440"/>
            <a:ext cx="365760" cy="365760"/>
          </a:xfrm>
          <a:prstGeom prst="rect">
            <a:avLst/>
          </a:prstGeom>
          <a:noFill/>
        </p:spPr>
        <p:txBody>
          <a:bodyPr wrap="square" lIns="0" tIns="0" rIns="0" bIns="0" anchor="ctr">
            <a:spAutoFit/>
          </a:bodyPr>
          <a:lstStyle/>
          <a:p>
            <a:pPr algn="ctr"/>
            <a:r>
              <a:rPr sz="1200" b="1">
                <a:solidFill>
                  <a:srgbClr val="FFFFFF"/>
                </a:solidFill>
                <a:latin typeface="Calibri"/>
              </a:rPr>
              <a:t>6</a:t>
            </a:r>
          </a:p>
        </p:txBody>
      </p:sp>
      <p:sp>
        <p:nvSpPr>
          <p:cNvPr id="33" name="TextBox 32"/>
          <p:cNvSpPr txBox="1"/>
          <p:nvPr/>
        </p:nvSpPr>
        <p:spPr>
          <a:xfrm>
            <a:off x="9436608" y="5696712"/>
            <a:ext cx="2002536" cy="585216"/>
          </a:xfrm>
          <a:prstGeom prst="rect">
            <a:avLst/>
          </a:prstGeom>
          <a:noFill/>
        </p:spPr>
        <p:txBody>
          <a:bodyPr wrap="square" lIns="0" tIns="0" rIns="0" bIns="0" anchor="ctr">
            <a:spAutoFit/>
          </a:bodyPr>
          <a:lstStyle/>
          <a:p>
            <a:pPr algn="l"/>
            <a:r>
              <a:rPr sz="1200" b="0">
                <a:solidFill>
                  <a:srgbClr val="27403D"/>
                </a:solidFill>
                <a:latin typeface="Calibri"/>
              </a:rPr>
              <a:t>Give doctors a reviewable, editable summary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65760"/>
            <a:ext cx="10881360" cy="731520"/>
          </a:xfrm>
          <a:prstGeom prst="rect">
            <a:avLst/>
          </a:prstGeom>
          <a:noFill/>
        </p:spPr>
        <p:txBody>
          <a:bodyPr wrap="square" lIns="0" tIns="0" rIns="0" bIns="0" anchor="ctr">
            <a:spAutoFit/>
          </a:bodyPr>
          <a:lstStyle/>
          <a:p>
            <a:pPr algn="l"/>
            <a:r>
              <a:rPr sz="3200" b="1">
                <a:solidFill>
                  <a:srgbClr val="FFFFFF"/>
                </a:solidFill>
                <a:latin typeface="Cambria"/>
              </a:rPr>
              <a:t>System Workflow &amp; Architecture</a:t>
            </a:r>
          </a:p>
        </p:txBody>
      </p:sp>
      <p:sp>
        <p:nvSpPr>
          <p:cNvPr id="3" name="Rounded Rectangle 2"/>
          <p:cNvSpPr/>
          <p:nvPr/>
        </p:nvSpPr>
        <p:spPr>
          <a:xfrm>
            <a:off x="640080" y="1325880"/>
            <a:ext cx="4160520" cy="585216"/>
          </a:xfrm>
          <a:prstGeom prst="roundRect">
            <a:avLst>
              <a:gd name="adj" fmla="val 8000"/>
            </a:avLst>
          </a:prstGeom>
          <a:solidFill>
            <a:srgbClr val="13413B"/>
          </a:solidFill>
          <a:ln w="9525">
            <a:solidFill>
              <a:srgbClr val="1E6D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68096" y="1435607"/>
            <a:ext cx="365760" cy="365760"/>
          </a:xfrm>
          <a:prstGeom prst="ellipse">
            <a:avLst/>
          </a:prstGeom>
          <a:solidFill>
            <a:srgbClr val="0DA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435607"/>
            <a:ext cx="365760" cy="365760"/>
          </a:xfrm>
          <a:prstGeom prst="rect">
            <a:avLst/>
          </a:prstGeom>
          <a:noFill/>
        </p:spPr>
        <p:txBody>
          <a:bodyPr wrap="square" lIns="0" tIns="0" rIns="0" bIns="0" anchor="ctr">
            <a:spAutoFit/>
          </a:bodyPr>
          <a:lstStyle/>
          <a:p>
            <a:pPr algn="ctr"/>
            <a:r>
              <a:rPr sz="1200" b="1">
                <a:solidFill>
                  <a:srgbClr val="FFFFFF"/>
                </a:solidFill>
                <a:latin typeface="Calibri"/>
              </a:rPr>
              <a:t>1</a:t>
            </a:r>
          </a:p>
        </p:txBody>
      </p:sp>
      <p:sp>
        <p:nvSpPr>
          <p:cNvPr id="6" name="TextBox 5"/>
          <p:cNvSpPr txBox="1"/>
          <p:nvPr/>
        </p:nvSpPr>
        <p:spPr>
          <a:xfrm>
            <a:off x="1280160" y="1380744"/>
            <a:ext cx="3429000" cy="475488"/>
          </a:xfrm>
          <a:prstGeom prst="rect">
            <a:avLst/>
          </a:prstGeom>
          <a:noFill/>
        </p:spPr>
        <p:txBody>
          <a:bodyPr wrap="square" lIns="0" tIns="0" rIns="0" bIns="0" anchor="ctr">
            <a:spAutoFit/>
          </a:bodyPr>
          <a:lstStyle/>
          <a:p>
            <a:pPr algn="l"/>
            <a:r>
              <a:rPr sz="1300" b="1">
                <a:solidFill>
                  <a:srgbClr val="FFFFFF"/>
                </a:solidFill>
                <a:latin typeface="Calibri"/>
              </a:rPr>
              <a:t>Patient Speaks</a:t>
            </a:r>
          </a:p>
          <a:p>
            <a:pPr algn="l"/>
            <a:r>
              <a:rPr sz="1050" b="0">
                <a:solidFill>
                  <a:srgbClr val="B7CFCA"/>
                </a:solidFill>
                <a:latin typeface="Calibri"/>
              </a:rPr>
              <a:t>Voice or text, 9 languages</a:t>
            </a:r>
          </a:p>
        </p:txBody>
      </p:sp>
      <p:sp>
        <p:nvSpPr>
          <p:cNvPr id="7" name="Rounded Rectangle 6"/>
          <p:cNvSpPr/>
          <p:nvPr/>
        </p:nvSpPr>
        <p:spPr>
          <a:xfrm>
            <a:off x="640080" y="2002536"/>
            <a:ext cx="4160520" cy="585216"/>
          </a:xfrm>
          <a:prstGeom prst="roundRect">
            <a:avLst>
              <a:gd name="adj" fmla="val 8000"/>
            </a:avLst>
          </a:prstGeom>
          <a:solidFill>
            <a:srgbClr val="13413B"/>
          </a:solidFill>
          <a:ln w="9525">
            <a:solidFill>
              <a:srgbClr val="1E6D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68096" y="2112264"/>
            <a:ext cx="365760" cy="365760"/>
          </a:xfrm>
          <a:prstGeom prst="ellipse">
            <a:avLst/>
          </a:prstGeom>
          <a:solidFill>
            <a:srgbClr val="0DA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112264"/>
            <a:ext cx="365760" cy="365760"/>
          </a:xfrm>
          <a:prstGeom prst="rect">
            <a:avLst/>
          </a:prstGeom>
          <a:noFill/>
        </p:spPr>
        <p:txBody>
          <a:bodyPr wrap="square" lIns="0" tIns="0" rIns="0" bIns="0" anchor="ctr">
            <a:spAutoFit/>
          </a:bodyPr>
          <a:lstStyle/>
          <a:p>
            <a:pPr algn="ctr"/>
            <a:r>
              <a:rPr sz="1200" b="1">
                <a:solidFill>
                  <a:srgbClr val="FFFFFF"/>
                </a:solidFill>
                <a:latin typeface="Calibri"/>
              </a:rPr>
              <a:t>2</a:t>
            </a:r>
          </a:p>
        </p:txBody>
      </p:sp>
      <p:sp>
        <p:nvSpPr>
          <p:cNvPr id="10" name="TextBox 9"/>
          <p:cNvSpPr txBox="1"/>
          <p:nvPr/>
        </p:nvSpPr>
        <p:spPr>
          <a:xfrm>
            <a:off x="1280160" y="2057400"/>
            <a:ext cx="3429000" cy="475488"/>
          </a:xfrm>
          <a:prstGeom prst="rect">
            <a:avLst/>
          </a:prstGeom>
          <a:noFill/>
        </p:spPr>
        <p:txBody>
          <a:bodyPr wrap="square" lIns="0" tIns="0" rIns="0" bIns="0" anchor="ctr">
            <a:spAutoFit/>
          </a:bodyPr>
          <a:lstStyle/>
          <a:p>
            <a:pPr algn="l"/>
            <a:r>
              <a:rPr sz="1300" b="1">
                <a:solidFill>
                  <a:srgbClr val="FFFFFF"/>
                </a:solidFill>
                <a:latin typeface="Calibri"/>
              </a:rPr>
              <a:t>AI Asks Questions</a:t>
            </a:r>
          </a:p>
          <a:p>
            <a:pPr algn="l"/>
            <a:r>
              <a:rPr sz="1050" b="0">
                <a:solidFill>
                  <a:srgbClr val="B7CFCA"/>
                </a:solidFill>
                <a:latin typeface="Calibri"/>
              </a:rPr>
              <a:t>One lifestyle area at a time, in the patient's language</a:t>
            </a:r>
          </a:p>
        </p:txBody>
      </p:sp>
      <p:sp>
        <p:nvSpPr>
          <p:cNvPr id="11" name="Rounded Rectangle 10"/>
          <p:cNvSpPr/>
          <p:nvPr/>
        </p:nvSpPr>
        <p:spPr>
          <a:xfrm>
            <a:off x="640080" y="2679191"/>
            <a:ext cx="4160520" cy="585216"/>
          </a:xfrm>
          <a:prstGeom prst="roundRect">
            <a:avLst>
              <a:gd name="adj" fmla="val 8000"/>
            </a:avLst>
          </a:prstGeom>
          <a:solidFill>
            <a:srgbClr val="13413B"/>
          </a:solidFill>
          <a:ln w="9525">
            <a:solidFill>
              <a:srgbClr val="1E6D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68096" y="2788920"/>
            <a:ext cx="365760" cy="365760"/>
          </a:xfrm>
          <a:prstGeom prst="ellipse">
            <a:avLst/>
          </a:prstGeom>
          <a:solidFill>
            <a:srgbClr val="0DA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8096" y="2788920"/>
            <a:ext cx="365760" cy="365760"/>
          </a:xfrm>
          <a:prstGeom prst="rect">
            <a:avLst/>
          </a:prstGeom>
          <a:noFill/>
        </p:spPr>
        <p:txBody>
          <a:bodyPr wrap="square" lIns="0" tIns="0" rIns="0" bIns="0" anchor="ctr">
            <a:spAutoFit/>
          </a:bodyPr>
          <a:lstStyle/>
          <a:p>
            <a:pPr algn="ctr"/>
            <a:r>
              <a:rPr sz="1200" b="1">
                <a:solidFill>
                  <a:srgbClr val="FFFFFF"/>
                </a:solidFill>
                <a:latin typeface="Calibri"/>
              </a:rPr>
              <a:t>3</a:t>
            </a:r>
          </a:p>
        </p:txBody>
      </p:sp>
      <p:sp>
        <p:nvSpPr>
          <p:cNvPr id="14" name="TextBox 13"/>
          <p:cNvSpPr txBox="1"/>
          <p:nvPr/>
        </p:nvSpPr>
        <p:spPr>
          <a:xfrm>
            <a:off x="1280160" y="2734056"/>
            <a:ext cx="3429000" cy="475488"/>
          </a:xfrm>
          <a:prstGeom prst="rect">
            <a:avLst/>
          </a:prstGeom>
          <a:noFill/>
        </p:spPr>
        <p:txBody>
          <a:bodyPr wrap="square" lIns="0" tIns="0" rIns="0" bIns="0" anchor="ctr">
            <a:spAutoFit/>
          </a:bodyPr>
          <a:lstStyle/>
          <a:p>
            <a:pPr algn="l"/>
            <a:r>
              <a:rPr sz="1300" b="1">
                <a:solidFill>
                  <a:srgbClr val="FFFFFF"/>
                </a:solidFill>
                <a:latin typeface="Calibri"/>
              </a:rPr>
              <a:t>Patient Answers</a:t>
            </a:r>
          </a:p>
          <a:p>
            <a:pPr algn="l"/>
            <a:r>
              <a:rPr sz="1050" b="0">
                <a:solidFill>
                  <a:srgbClr val="B7CFCA"/>
                </a:solidFill>
                <a:latin typeface="Calibri"/>
              </a:rPr>
              <a:t>Extracted into structured fields with a source quote</a:t>
            </a:r>
          </a:p>
        </p:txBody>
      </p:sp>
      <p:sp>
        <p:nvSpPr>
          <p:cNvPr id="15" name="Rounded Rectangle 14"/>
          <p:cNvSpPr/>
          <p:nvPr/>
        </p:nvSpPr>
        <p:spPr>
          <a:xfrm>
            <a:off x="640080" y="3355848"/>
            <a:ext cx="4160520" cy="585216"/>
          </a:xfrm>
          <a:prstGeom prst="roundRect">
            <a:avLst>
              <a:gd name="adj" fmla="val 8000"/>
            </a:avLst>
          </a:prstGeom>
          <a:solidFill>
            <a:srgbClr val="13413B"/>
          </a:solidFill>
          <a:ln w="9525">
            <a:solidFill>
              <a:srgbClr val="1E6D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68096" y="3465576"/>
            <a:ext cx="365760" cy="365760"/>
          </a:xfrm>
          <a:prstGeom prst="ellipse">
            <a:avLst/>
          </a:prstGeom>
          <a:solidFill>
            <a:srgbClr val="0DA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8096" y="3465576"/>
            <a:ext cx="365760" cy="365760"/>
          </a:xfrm>
          <a:prstGeom prst="rect">
            <a:avLst/>
          </a:prstGeom>
          <a:noFill/>
        </p:spPr>
        <p:txBody>
          <a:bodyPr wrap="square" lIns="0" tIns="0" rIns="0" bIns="0" anchor="ctr">
            <a:spAutoFit/>
          </a:bodyPr>
          <a:lstStyle/>
          <a:p>
            <a:pPr algn="ctr"/>
            <a:r>
              <a:rPr sz="1200" b="1">
                <a:solidFill>
                  <a:srgbClr val="FFFFFF"/>
                </a:solidFill>
                <a:latin typeface="Calibri"/>
              </a:rPr>
              <a:t>4</a:t>
            </a:r>
          </a:p>
        </p:txBody>
      </p:sp>
      <p:sp>
        <p:nvSpPr>
          <p:cNvPr id="18" name="TextBox 17"/>
          <p:cNvSpPr txBox="1"/>
          <p:nvPr/>
        </p:nvSpPr>
        <p:spPr>
          <a:xfrm>
            <a:off x="1280160" y="3410712"/>
            <a:ext cx="3429000" cy="475488"/>
          </a:xfrm>
          <a:prstGeom prst="rect">
            <a:avLst/>
          </a:prstGeom>
          <a:noFill/>
        </p:spPr>
        <p:txBody>
          <a:bodyPr wrap="square" lIns="0" tIns="0" rIns="0" bIns="0" anchor="ctr">
            <a:spAutoFit/>
          </a:bodyPr>
          <a:lstStyle/>
          <a:p>
            <a:pPr algn="l"/>
            <a:r>
              <a:rPr sz="1300" b="1">
                <a:solidFill>
                  <a:srgbClr val="FFFFFF"/>
                </a:solidFill>
                <a:latin typeface="Calibri"/>
              </a:rPr>
              <a:t>System Analyses</a:t>
            </a:r>
          </a:p>
          <a:p>
            <a:pPr algn="l"/>
            <a:r>
              <a:rPr sz="1050" b="0">
                <a:solidFill>
                  <a:srgbClr val="B7CFCA"/>
                </a:solidFill>
                <a:latin typeface="Calibri"/>
              </a:rPr>
              <a:t>Score and risk flags computed in plain Python</a:t>
            </a:r>
          </a:p>
        </p:txBody>
      </p:sp>
      <p:sp>
        <p:nvSpPr>
          <p:cNvPr id="19" name="Rounded Rectangle 18"/>
          <p:cNvSpPr/>
          <p:nvPr/>
        </p:nvSpPr>
        <p:spPr>
          <a:xfrm>
            <a:off x="640080" y="4032504"/>
            <a:ext cx="4160520" cy="585216"/>
          </a:xfrm>
          <a:prstGeom prst="roundRect">
            <a:avLst>
              <a:gd name="adj" fmla="val 8000"/>
            </a:avLst>
          </a:prstGeom>
          <a:solidFill>
            <a:srgbClr val="13413B"/>
          </a:solidFill>
          <a:ln w="9525">
            <a:solidFill>
              <a:srgbClr val="1E6D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68096" y="4142232"/>
            <a:ext cx="365760" cy="365760"/>
          </a:xfrm>
          <a:prstGeom prst="ellipse">
            <a:avLst/>
          </a:prstGeom>
          <a:solidFill>
            <a:srgbClr val="0DA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8096" y="4142232"/>
            <a:ext cx="365760" cy="365760"/>
          </a:xfrm>
          <a:prstGeom prst="rect">
            <a:avLst/>
          </a:prstGeom>
          <a:noFill/>
        </p:spPr>
        <p:txBody>
          <a:bodyPr wrap="square" lIns="0" tIns="0" rIns="0" bIns="0" anchor="ctr">
            <a:spAutoFit/>
          </a:bodyPr>
          <a:lstStyle/>
          <a:p>
            <a:pPr algn="ctr"/>
            <a:r>
              <a:rPr sz="1200" b="1">
                <a:solidFill>
                  <a:srgbClr val="FFFFFF"/>
                </a:solidFill>
                <a:latin typeface="Calibri"/>
              </a:rPr>
              <a:t>5</a:t>
            </a:r>
          </a:p>
        </p:txBody>
      </p:sp>
      <p:sp>
        <p:nvSpPr>
          <p:cNvPr id="22" name="TextBox 21"/>
          <p:cNvSpPr txBox="1"/>
          <p:nvPr/>
        </p:nvSpPr>
        <p:spPr>
          <a:xfrm>
            <a:off x="1280160" y="4087368"/>
            <a:ext cx="3429000" cy="475488"/>
          </a:xfrm>
          <a:prstGeom prst="rect">
            <a:avLst/>
          </a:prstGeom>
          <a:noFill/>
        </p:spPr>
        <p:txBody>
          <a:bodyPr wrap="square" lIns="0" tIns="0" rIns="0" bIns="0" anchor="ctr">
            <a:spAutoFit/>
          </a:bodyPr>
          <a:lstStyle/>
          <a:p>
            <a:pPr algn="l"/>
            <a:r>
              <a:rPr sz="1300" b="1">
                <a:solidFill>
                  <a:srgbClr val="FFFFFF"/>
                </a:solidFill>
                <a:latin typeface="Calibri"/>
              </a:rPr>
              <a:t>Doctor Reviews</a:t>
            </a:r>
          </a:p>
          <a:p>
            <a:pPr algn="l"/>
            <a:r>
              <a:rPr sz="1050" b="0">
                <a:solidFill>
                  <a:srgbClr val="B7CFCA"/>
                </a:solidFill>
                <a:latin typeface="Calibri"/>
              </a:rPr>
              <a:t>Summary, score, risks, recommendations, PDF</a:t>
            </a:r>
          </a:p>
        </p:txBody>
      </p:sp>
      <p:sp>
        <p:nvSpPr>
          <p:cNvPr id="23" name="Rounded Rectangle 22"/>
          <p:cNvSpPr/>
          <p:nvPr/>
        </p:nvSpPr>
        <p:spPr>
          <a:xfrm>
            <a:off x="640080" y="4800600"/>
            <a:ext cx="4160520" cy="1325880"/>
          </a:xfrm>
          <a:prstGeom prst="roundRect">
            <a:avLst>
              <a:gd name="adj" fmla="val 6000"/>
            </a:avLst>
          </a:prstGeom>
          <a:solidFill>
            <a:srgbClr val="6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1248" y="4800600"/>
            <a:ext cx="3794760" cy="1325880"/>
          </a:xfrm>
          <a:prstGeom prst="rect">
            <a:avLst/>
          </a:prstGeom>
          <a:noFill/>
        </p:spPr>
        <p:txBody>
          <a:bodyPr wrap="square" lIns="0" tIns="0" rIns="0" bIns="0" anchor="ctr">
            <a:spAutoFit/>
          </a:bodyPr>
          <a:lstStyle/>
          <a:p>
            <a:pPr algn="l">
              <a:spcAft>
                <a:spcPts val="400"/>
              </a:spcAft>
            </a:pPr>
            <a:r>
              <a:rPr sz="1300" b="1">
                <a:solidFill>
                  <a:srgbClr val="FFC9C9"/>
                </a:solidFill>
                <a:latin typeface="Calibri"/>
              </a:rPr>
              <a:t>Emergency override</a:t>
            </a:r>
          </a:p>
          <a:p>
            <a:pPr algn="l"/>
            <a:r>
              <a:rPr sz="1150" b="0">
                <a:solidFill>
                  <a:srgbClr val="F3DADA"/>
                </a:solidFill>
                <a:latin typeface="Calibri"/>
              </a:rPr>
              <a:t>Chest pain, breathlessness, stroke signs or similar stop the questionnaire immediately; the consultation is flagged Escalated and the patient is told to seek in-person care now.</a:t>
            </a:r>
          </a:p>
        </p:txBody>
      </p:sp>
      <p:pic>
        <p:nvPicPr>
          <p:cNvPr id="25" name="Picture 24" descr="image2.png"/>
          <p:cNvPicPr>
            <a:picLocks noChangeAspect="1"/>
          </p:cNvPicPr>
          <p:nvPr/>
        </p:nvPicPr>
        <p:blipFill>
          <a:blip r:embed="rId3"/>
          <a:stretch>
            <a:fillRect/>
          </a:stretch>
        </p:blipFill>
        <p:spPr>
          <a:xfrm>
            <a:off x="5074920" y="1995853"/>
            <a:ext cx="6473952" cy="364353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65760"/>
            <a:ext cx="10881360" cy="731520"/>
          </a:xfrm>
          <a:prstGeom prst="rect">
            <a:avLst/>
          </a:prstGeom>
          <a:noFill/>
        </p:spPr>
        <p:txBody>
          <a:bodyPr wrap="square" lIns="0" tIns="0" rIns="0" bIns="0" anchor="ctr">
            <a:spAutoFit/>
          </a:bodyPr>
          <a:lstStyle/>
          <a:p>
            <a:pPr algn="l"/>
            <a:r>
              <a:rPr sz="3200" b="1">
                <a:solidFill>
                  <a:srgbClr val="0C3833"/>
                </a:solidFill>
                <a:latin typeface="Cambria"/>
              </a:rPr>
              <a:t>Assessment, Risks &amp; Recommendations</a:t>
            </a:r>
          </a:p>
        </p:txBody>
      </p:sp>
      <p:sp>
        <p:nvSpPr>
          <p:cNvPr id="3" name="TextBox 2"/>
          <p:cNvSpPr txBox="1"/>
          <p:nvPr/>
        </p:nvSpPr>
        <p:spPr>
          <a:xfrm>
            <a:off x="640080" y="1051560"/>
            <a:ext cx="10881360" cy="365760"/>
          </a:xfrm>
          <a:prstGeom prst="rect">
            <a:avLst/>
          </a:prstGeom>
          <a:noFill/>
        </p:spPr>
        <p:txBody>
          <a:bodyPr wrap="square" lIns="0" tIns="0" rIns="0" bIns="0" anchor="t">
            <a:spAutoFit/>
          </a:bodyPr>
          <a:lstStyle/>
          <a:p>
            <a:pPr algn="l"/>
            <a:r>
              <a:rPr sz="1200" b="0">
                <a:solidFill>
                  <a:srgbClr val="6E837F"/>
                </a:solidFill>
                <a:latin typeface="Calibri"/>
              </a:rPr>
              <a:t>The AI asks about 8 lifestyle areas one at a time, extracts structured values from free speech, runs medical NER for symptoms, flags risks and retrieves cited guidelines. Real output below.</a:t>
            </a:r>
          </a:p>
        </p:txBody>
      </p:sp>
      <p:sp>
        <p:nvSpPr>
          <p:cNvPr id="4" name="Rounded Rectangle 3"/>
          <p:cNvSpPr/>
          <p:nvPr/>
        </p:nvSpPr>
        <p:spPr>
          <a:xfrm>
            <a:off x="640080" y="1600200"/>
            <a:ext cx="3483864" cy="4754880"/>
          </a:xfrm>
          <a:prstGeom prst="roundRect">
            <a:avLst>
              <a:gd name="adj" fmla="val 4000"/>
            </a:avLst>
          </a:prstGeom>
          <a:solidFill>
            <a:srgbClr val="0E7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01368"/>
            <a:ext cx="3026664" cy="228600"/>
          </a:xfrm>
          <a:prstGeom prst="rect">
            <a:avLst/>
          </a:prstGeom>
          <a:noFill/>
        </p:spPr>
        <p:txBody>
          <a:bodyPr wrap="square" lIns="0" tIns="0" rIns="0" bIns="0" anchor="ctr">
            <a:spAutoFit/>
          </a:bodyPr>
          <a:lstStyle/>
          <a:p>
            <a:pPr algn="l"/>
            <a:r>
              <a:rPr sz="1100" b="1" spc="200">
                <a:solidFill>
                  <a:srgbClr val="8FE3D6"/>
                </a:solidFill>
                <a:latin typeface="Calibri"/>
              </a:rPr>
              <a:t>CLINICAL SUMMARY</a:t>
            </a:r>
          </a:p>
        </p:txBody>
      </p:sp>
      <p:sp>
        <p:nvSpPr>
          <p:cNvPr id="6" name="TextBox 5"/>
          <p:cNvSpPr txBox="1"/>
          <p:nvPr/>
        </p:nvSpPr>
        <p:spPr>
          <a:xfrm>
            <a:off x="914400" y="2103120"/>
            <a:ext cx="2935224" cy="411480"/>
          </a:xfrm>
          <a:prstGeom prst="rect">
            <a:avLst/>
          </a:prstGeom>
          <a:noFill/>
        </p:spPr>
        <p:txBody>
          <a:bodyPr wrap="square" lIns="0" tIns="0" rIns="0" bIns="0" anchor="t">
            <a:spAutoFit/>
          </a:bodyPr>
          <a:lstStyle/>
          <a:p>
            <a:pPr algn="l"/>
            <a:r>
              <a:rPr sz="1100" b="1">
                <a:solidFill>
                  <a:srgbClr val="FFFFFF"/>
                </a:solidFill>
                <a:latin typeface="Calibri"/>
              </a:rPr>
              <a:t>Symptoms: </a:t>
            </a:r>
            <a:r>
              <a:rPr sz="1100" b="0">
                <a:solidFill>
                  <a:srgbClr val="D7F2EE"/>
                </a:solidFill>
                <a:latin typeface="Calibri"/>
              </a:rPr>
              <a:t>fatigue (2 weeks), mild headaches, no fever</a:t>
            </a:r>
          </a:p>
        </p:txBody>
      </p:sp>
      <p:sp>
        <p:nvSpPr>
          <p:cNvPr id="7" name="TextBox 6"/>
          <p:cNvSpPr txBox="1"/>
          <p:nvPr/>
        </p:nvSpPr>
        <p:spPr>
          <a:xfrm>
            <a:off x="914400" y="2606040"/>
            <a:ext cx="1280160" cy="274320"/>
          </a:xfrm>
          <a:prstGeom prst="rect">
            <a:avLst/>
          </a:prstGeom>
          <a:noFill/>
        </p:spPr>
        <p:txBody>
          <a:bodyPr wrap="square" lIns="0" tIns="0" rIns="0" bIns="0" anchor="ctr">
            <a:spAutoFit/>
          </a:bodyPr>
          <a:lstStyle/>
          <a:p>
            <a:pPr algn="l"/>
            <a:r>
              <a:rPr sz="1200" b="0">
                <a:solidFill>
                  <a:srgbClr val="D7F2EE"/>
                </a:solidFill>
                <a:latin typeface="Calibri"/>
              </a:rPr>
              <a:t>Sleep</a:t>
            </a:r>
          </a:p>
        </p:txBody>
      </p:sp>
      <p:sp>
        <p:nvSpPr>
          <p:cNvPr id="8" name="TextBox 7"/>
          <p:cNvSpPr txBox="1"/>
          <p:nvPr/>
        </p:nvSpPr>
        <p:spPr>
          <a:xfrm>
            <a:off x="2194560" y="2606040"/>
            <a:ext cx="1655064" cy="274320"/>
          </a:xfrm>
          <a:prstGeom prst="rect">
            <a:avLst/>
          </a:prstGeom>
          <a:noFill/>
        </p:spPr>
        <p:txBody>
          <a:bodyPr wrap="square" lIns="0" tIns="0" rIns="0" bIns="0" anchor="ctr">
            <a:spAutoFit/>
          </a:bodyPr>
          <a:lstStyle/>
          <a:p>
            <a:pPr algn="l"/>
            <a:r>
              <a:rPr sz="1200" b="1">
                <a:solidFill>
                  <a:srgbClr val="FFFFFF"/>
                </a:solidFill>
                <a:latin typeface="Calibri"/>
              </a:rPr>
              <a:t>5 hrs/day</a:t>
            </a:r>
          </a:p>
        </p:txBody>
      </p:sp>
      <p:sp>
        <p:nvSpPr>
          <p:cNvPr id="9" name="TextBox 8"/>
          <p:cNvSpPr txBox="1"/>
          <p:nvPr/>
        </p:nvSpPr>
        <p:spPr>
          <a:xfrm>
            <a:off x="914400" y="2912364"/>
            <a:ext cx="1280160" cy="274320"/>
          </a:xfrm>
          <a:prstGeom prst="rect">
            <a:avLst/>
          </a:prstGeom>
          <a:noFill/>
        </p:spPr>
        <p:txBody>
          <a:bodyPr wrap="square" lIns="0" tIns="0" rIns="0" bIns="0" anchor="ctr">
            <a:spAutoFit/>
          </a:bodyPr>
          <a:lstStyle/>
          <a:p>
            <a:pPr algn="l"/>
            <a:r>
              <a:rPr sz="1200" b="0">
                <a:solidFill>
                  <a:srgbClr val="D7F2EE"/>
                </a:solidFill>
                <a:latin typeface="Calibri"/>
              </a:rPr>
              <a:t>Exercise</a:t>
            </a:r>
          </a:p>
        </p:txBody>
      </p:sp>
      <p:sp>
        <p:nvSpPr>
          <p:cNvPr id="10" name="TextBox 9"/>
          <p:cNvSpPr txBox="1"/>
          <p:nvPr/>
        </p:nvSpPr>
        <p:spPr>
          <a:xfrm>
            <a:off x="2194560" y="2912364"/>
            <a:ext cx="1655064" cy="274320"/>
          </a:xfrm>
          <a:prstGeom prst="rect">
            <a:avLst/>
          </a:prstGeom>
          <a:noFill/>
        </p:spPr>
        <p:txBody>
          <a:bodyPr wrap="square" lIns="0" tIns="0" rIns="0" bIns="0" anchor="ctr">
            <a:spAutoFit/>
          </a:bodyPr>
          <a:lstStyle/>
          <a:p>
            <a:pPr algn="l"/>
            <a:r>
              <a:rPr sz="1200" b="1">
                <a:solidFill>
                  <a:srgbClr val="FFFFFF"/>
                </a:solidFill>
                <a:latin typeface="Calibri"/>
              </a:rPr>
              <a:t>None</a:t>
            </a:r>
          </a:p>
        </p:txBody>
      </p:sp>
      <p:sp>
        <p:nvSpPr>
          <p:cNvPr id="11" name="TextBox 10"/>
          <p:cNvSpPr txBox="1"/>
          <p:nvPr/>
        </p:nvSpPr>
        <p:spPr>
          <a:xfrm>
            <a:off x="914400" y="3218688"/>
            <a:ext cx="1280160" cy="274320"/>
          </a:xfrm>
          <a:prstGeom prst="rect">
            <a:avLst/>
          </a:prstGeom>
          <a:noFill/>
        </p:spPr>
        <p:txBody>
          <a:bodyPr wrap="square" lIns="0" tIns="0" rIns="0" bIns="0" anchor="ctr">
            <a:spAutoFit/>
          </a:bodyPr>
          <a:lstStyle/>
          <a:p>
            <a:pPr algn="l"/>
            <a:r>
              <a:rPr sz="1200" b="0">
                <a:solidFill>
                  <a:srgbClr val="D7F2EE"/>
                </a:solidFill>
                <a:latin typeface="Calibri"/>
              </a:rPr>
              <a:t>Diet</a:t>
            </a:r>
          </a:p>
        </p:txBody>
      </p:sp>
      <p:sp>
        <p:nvSpPr>
          <p:cNvPr id="12" name="TextBox 11"/>
          <p:cNvSpPr txBox="1"/>
          <p:nvPr/>
        </p:nvSpPr>
        <p:spPr>
          <a:xfrm>
            <a:off x="2194560" y="3218688"/>
            <a:ext cx="1655064" cy="274320"/>
          </a:xfrm>
          <a:prstGeom prst="rect">
            <a:avLst/>
          </a:prstGeom>
          <a:noFill/>
        </p:spPr>
        <p:txBody>
          <a:bodyPr wrap="square" lIns="0" tIns="0" rIns="0" bIns="0" anchor="ctr">
            <a:spAutoFit/>
          </a:bodyPr>
          <a:lstStyle/>
          <a:p>
            <a:pPr algn="l"/>
            <a:r>
              <a:rPr sz="1200" b="1">
                <a:solidFill>
                  <a:srgbClr val="FFFFFF"/>
                </a:solidFill>
                <a:latin typeface="Calibri"/>
              </a:rPr>
              <a:t>Frequent fast food</a:t>
            </a:r>
          </a:p>
        </p:txBody>
      </p:sp>
      <p:sp>
        <p:nvSpPr>
          <p:cNvPr id="13" name="TextBox 12"/>
          <p:cNvSpPr txBox="1"/>
          <p:nvPr/>
        </p:nvSpPr>
        <p:spPr>
          <a:xfrm>
            <a:off x="914400" y="3525012"/>
            <a:ext cx="1280160" cy="274320"/>
          </a:xfrm>
          <a:prstGeom prst="rect">
            <a:avLst/>
          </a:prstGeom>
          <a:noFill/>
        </p:spPr>
        <p:txBody>
          <a:bodyPr wrap="square" lIns="0" tIns="0" rIns="0" bIns="0" anchor="ctr">
            <a:spAutoFit/>
          </a:bodyPr>
          <a:lstStyle/>
          <a:p>
            <a:pPr algn="l"/>
            <a:r>
              <a:rPr sz="1200" b="0">
                <a:solidFill>
                  <a:srgbClr val="D7F2EE"/>
                </a:solidFill>
                <a:latin typeface="Calibri"/>
              </a:rPr>
              <a:t>Water intake</a:t>
            </a:r>
          </a:p>
        </p:txBody>
      </p:sp>
      <p:sp>
        <p:nvSpPr>
          <p:cNvPr id="14" name="TextBox 13"/>
          <p:cNvSpPr txBox="1"/>
          <p:nvPr/>
        </p:nvSpPr>
        <p:spPr>
          <a:xfrm>
            <a:off x="2194560" y="3525012"/>
            <a:ext cx="1655064" cy="274320"/>
          </a:xfrm>
          <a:prstGeom prst="rect">
            <a:avLst/>
          </a:prstGeom>
          <a:noFill/>
        </p:spPr>
        <p:txBody>
          <a:bodyPr wrap="square" lIns="0" tIns="0" rIns="0" bIns="0" anchor="ctr">
            <a:spAutoFit/>
          </a:bodyPr>
          <a:lstStyle/>
          <a:p>
            <a:pPr algn="l"/>
            <a:r>
              <a:rPr sz="1200" b="1">
                <a:solidFill>
                  <a:srgbClr val="FFFFFF"/>
                </a:solidFill>
                <a:latin typeface="Calibri"/>
              </a:rPr>
              <a:t>1 litre/day</a:t>
            </a:r>
          </a:p>
        </p:txBody>
      </p:sp>
      <p:sp>
        <p:nvSpPr>
          <p:cNvPr id="15" name="TextBox 14"/>
          <p:cNvSpPr txBox="1"/>
          <p:nvPr/>
        </p:nvSpPr>
        <p:spPr>
          <a:xfrm>
            <a:off x="914400" y="3831336"/>
            <a:ext cx="1280160" cy="274320"/>
          </a:xfrm>
          <a:prstGeom prst="rect">
            <a:avLst/>
          </a:prstGeom>
          <a:noFill/>
        </p:spPr>
        <p:txBody>
          <a:bodyPr wrap="square" lIns="0" tIns="0" rIns="0" bIns="0" anchor="ctr">
            <a:spAutoFit/>
          </a:bodyPr>
          <a:lstStyle/>
          <a:p>
            <a:pPr algn="l"/>
            <a:r>
              <a:rPr sz="1200" b="0">
                <a:solidFill>
                  <a:srgbClr val="D7F2EE"/>
                </a:solidFill>
                <a:latin typeface="Calibri"/>
              </a:rPr>
              <a:t>Stress</a:t>
            </a:r>
          </a:p>
        </p:txBody>
      </p:sp>
      <p:sp>
        <p:nvSpPr>
          <p:cNvPr id="16" name="TextBox 15"/>
          <p:cNvSpPr txBox="1"/>
          <p:nvPr/>
        </p:nvSpPr>
        <p:spPr>
          <a:xfrm>
            <a:off x="2194560" y="3831336"/>
            <a:ext cx="1655064" cy="274320"/>
          </a:xfrm>
          <a:prstGeom prst="rect">
            <a:avLst/>
          </a:prstGeom>
          <a:noFill/>
        </p:spPr>
        <p:txBody>
          <a:bodyPr wrap="square" lIns="0" tIns="0" rIns="0" bIns="0" anchor="ctr">
            <a:spAutoFit/>
          </a:bodyPr>
          <a:lstStyle/>
          <a:p>
            <a:pPr algn="l"/>
            <a:r>
              <a:rPr sz="1200" b="1">
                <a:solidFill>
                  <a:srgbClr val="FFFFFF"/>
                </a:solidFill>
                <a:latin typeface="Calibri"/>
              </a:rPr>
              <a:t>High</a:t>
            </a:r>
          </a:p>
        </p:txBody>
      </p:sp>
      <p:sp>
        <p:nvSpPr>
          <p:cNvPr id="17" name="TextBox 16"/>
          <p:cNvSpPr txBox="1"/>
          <p:nvPr/>
        </p:nvSpPr>
        <p:spPr>
          <a:xfrm>
            <a:off x="914400" y="4137660"/>
            <a:ext cx="1280160" cy="274320"/>
          </a:xfrm>
          <a:prstGeom prst="rect">
            <a:avLst/>
          </a:prstGeom>
          <a:noFill/>
        </p:spPr>
        <p:txBody>
          <a:bodyPr wrap="square" lIns="0" tIns="0" rIns="0" bIns="0" anchor="ctr">
            <a:spAutoFit/>
          </a:bodyPr>
          <a:lstStyle/>
          <a:p>
            <a:pPr algn="l"/>
            <a:r>
              <a:rPr sz="1200" b="0">
                <a:solidFill>
                  <a:srgbClr val="D7F2EE"/>
                </a:solidFill>
                <a:latin typeface="Calibri"/>
              </a:rPr>
              <a:t>Sitting</a:t>
            </a:r>
          </a:p>
        </p:txBody>
      </p:sp>
      <p:sp>
        <p:nvSpPr>
          <p:cNvPr id="18" name="TextBox 17"/>
          <p:cNvSpPr txBox="1"/>
          <p:nvPr/>
        </p:nvSpPr>
        <p:spPr>
          <a:xfrm>
            <a:off x="2194560" y="4137660"/>
            <a:ext cx="1655064" cy="274320"/>
          </a:xfrm>
          <a:prstGeom prst="rect">
            <a:avLst/>
          </a:prstGeom>
          <a:noFill/>
        </p:spPr>
        <p:txBody>
          <a:bodyPr wrap="square" lIns="0" tIns="0" rIns="0" bIns="0" anchor="ctr">
            <a:spAutoFit/>
          </a:bodyPr>
          <a:lstStyle/>
          <a:p>
            <a:pPr algn="l"/>
            <a:r>
              <a:rPr sz="1200" b="1">
                <a:solidFill>
                  <a:srgbClr val="FFFFFF"/>
                </a:solidFill>
                <a:latin typeface="Calibri"/>
              </a:rPr>
              <a:t>9 hrs/day</a:t>
            </a:r>
          </a:p>
        </p:txBody>
      </p:sp>
      <p:sp>
        <p:nvSpPr>
          <p:cNvPr id="19" name="TextBox 18"/>
          <p:cNvSpPr txBox="1"/>
          <p:nvPr/>
        </p:nvSpPr>
        <p:spPr>
          <a:xfrm>
            <a:off x="914400" y="4443984"/>
            <a:ext cx="1280160" cy="274320"/>
          </a:xfrm>
          <a:prstGeom prst="rect">
            <a:avLst/>
          </a:prstGeom>
          <a:noFill/>
        </p:spPr>
        <p:txBody>
          <a:bodyPr wrap="square" lIns="0" tIns="0" rIns="0" bIns="0" anchor="ctr">
            <a:spAutoFit/>
          </a:bodyPr>
          <a:lstStyle/>
          <a:p>
            <a:pPr algn="l"/>
            <a:r>
              <a:rPr sz="1200" b="0">
                <a:solidFill>
                  <a:srgbClr val="D7F2EE"/>
                </a:solidFill>
                <a:latin typeface="Calibri"/>
              </a:rPr>
              <a:t>Smoking</a:t>
            </a:r>
          </a:p>
        </p:txBody>
      </p:sp>
      <p:sp>
        <p:nvSpPr>
          <p:cNvPr id="20" name="TextBox 19"/>
          <p:cNvSpPr txBox="1"/>
          <p:nvPr/>
        </p:nvSpPr>
        <p:spPr>
          <a:xfrm>
            <a:off x="2194560" y="4443984"/>
            <a:ext cx="1655064" cy="274320"/>
          </a:xfrm>
          <a:prstGeom prst="rect">
            <a:avLst/>
          </a:prstGeom>
          <a:noFill/>
        </p:spPr>
        <p:txBody>
          <a:bodyPr wrap="square" lIns="0" tIns="0" rIns="0" bIns="0" anchor="ctr">
            <a:spAutoFit/>
          </a:bodyPr>
          <a:lstStyle/>
          <a:p>
            <a:pPr algn="l"/>
            <a:r>
              <a:rPr sz="1200" b="1">
                <a:solidFill>
                  <a:srgbClr val="FFFFFF"/>
                </a:solidFill>
                <a:latin typeface="Calibri"/>
              </a:rPr>
              <a:t>No</a:t>
            </a:r>
          </a:p>
        </p:txBody>
      </p:sp>
      <p:sp>
        <p:nvSpPr>
          <p:cNvPr id="21" name="TextBox 20"/>
          <p:cNvSpPr txBox="1"/>
          <p:nvPr/>
        </p:nvSpPr>
        <p:spPr>
          <a:xfrm>
            <a:off x="914400" y="4750308"/>
            <a:ext cx="1280160" cy="274320"/>
          </a:xfrm>
          <a:prstGeom prst="rect">
            <a:avLst/>
          </a:prstGeom>
          <a:noFill/>
        </p:spPr>
        <p:txBody>
          <a:bodyPr wrap="square" lIns="0" tIns="0" rIns="0" bIns="0" anchor="ctr">
            <a:spAutoFit/>
          </a:bodyPr>
          <a:lstStyle/>
          <a:p>
            <a:pPr algn="l"/>
            <a:r>
              <a:rPr sz="1200" b="0">
                <a:solidFill>
                  <a:srgbClr val="D7F2EE"/>
                </a:solidFill>
                <a:latin typeface="Calibri"/>
              </a:rPr>
              <a:t>Alcohol</a:t>
            </a:r>
          </a:p>
        </p:txBody>
      </p:sp>
      <p:sp>
        <p:nvSpPr>
          <p:cNvPr id="22" name="TextBox 21"/>
          <p:cNvSpPr txBox="1"/>
          <p:nvPr/>
        </p:nvSpPr>
        <p:spPr>
          <a:xfrm>
            <a:off x="2194560" y="4750308"/>
            <a:ext cx="1655064" cy="274320"/>
          </a:xfrm>
          <a:prstGeom prst="rect">
            <a:avLst/>
          </a:prstGeom>
          <a:noFill/>
        </p:spPr>
        <p:txBody>
          <a:bodyPr wrap="square" lIns="0" tIns="0" rIns="0" bIns="0" anchor="ctr">
            <a:spAutoFit/>
          </a:bodyPr>
          <a:lstStyle/>
          <a:p>
            <a:pPr algn="l"/>
            <a:r>
              <a:rPr sz="1200" b="1">
                <a:solidFill>
                  <a:srgbClr val="FFFFFF"/>
                </a:solidFill>
                <a:latin typeface="Calibri"/>
              </a:rPr>
              <a:t>Occasionally</a:t>
            </a:r>
          </a:p>
        </p:txBody>
      </p:sp>
      <p:sp>
        <p:nvSpPr>
          <p:cNvPr id="23" name="Rounded Rectangle 22"/>
          <p:cNvSpPr/>
          <p:nvPr/>
        </p:nvSpPr>
        <p:spPr>
          <a:xfrm>
            <a:off x="914400" y="5257800"/>
            <a:ext cx="2935224" cy="868680"/>
          </a:xfrm>
          <a:prstGeom prst="roundRect">
            <a:avLst>
              <a:gd name="adj" fmla="val 8000"/>
            </a:avLst>
          </a:prstGeom>
          <a:solidFill>
            <a:srgbClr val="0A5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97280" y="5303520"/>
            <a:ext cx="2569464" cy="777240"/>
          </a:xfrm>
          <a:prstGeom prst="rect">
            <a:avLst/>
          </a:prstGeom>
          <a:noFill/>
        </p:spPr>
        <p:txBody>
          <a:bodyPr wrap="square" lIns="0" tIns="0" rIns="0" bIns="0" anchor="ctr">
            <a:spAutoFit/>
          </a:bodyPr>
          <a:lstStyle/>
          <a:p>
            <a:pPr algn="l"/>
            <a:r>
              <a:rPr sz="1100" b="0">
                <a:solidFill>
                  <a:srgbClr val="D7F2EE"/>
                </a:solidFill>
                <a:latin typeface="Calibri"/>
              </a:rPr>
              <a:t>Wellness Score</a:t>
            </a:r>
          </a:p>
          <a:p>
            <a:pPr algn="l"/>
            <a:r>
              <a:rPr sz="2000" b="1">
                <a:solidFill>
                  <a:srgbClr val="FFFFFF"/>
                </a:solidFill>
                <a:latin typeface="Calibri"/>
              </a:rPr>
              <a:t>34 / 100  —  Poor</a:t>
            </a:r>
          </a:p>
        </p:txBody>
      </p:sp>
      <p:sp>
        <p:nvSpPr>
          <p:cNvPr id="25" name="Rounded Rectangle 24"/>
          <p:cNvSpPr/>
          <p:nvPr/>
        </p:nvSpPr>
        <p:spPr>
          <a:xfrm>
            <a:off x="4352544" y="1600200"/>
            <a:ext cx="3483864" cy="4754880"/>
          </a:xfrm>
          <a:prstGeom prst="roundRect">
            <a:avLst>
              <a:gd name="adj" fmla="val 4000"/>
            </a:avLst>
          </a:prstGeom>
          <a:solidFill>
            <a:srgbClr val="FC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626864" y="1801368"/>
            <a:ext cx="3026664" cy="228600"/>
          </a:xfrm>
          <a:prstGeom prst="rect">
            <a:avLst/>
          </a:prstGeom>
          <a:noFill/>
        </p:spPr>
        <p:txBody>
          <a:bodyPr wrap="square" lIns="0" tIns="0" rIns="0" bIns="0" anchor="ctr">
            <a:spAutoFit/>
          </a:bodyPr>
          <a:lstStyle/>
          <a:p>
            <a:pPr algn="l"/>
            <a:r>
              <a:rPr sz="1100" b="1" spc="200">
                <a:solidFill>
                  <a:srgbClr val="9E3B3B"/>
                </a:solidFill>
                <a:latin typeface="Calibri"/>
              </a:rPr>
              <a:t>RISK FACTORS DETECTED</a:t>
            </a:r>
          </a:p>
        </p:txBody>
      </p:sp>
      <p:sp>
        <p:nvSpPr>
          <p:cNvPr id="27" name="TextBox 26"/>
          <p:cNvSpPr txBox="1"/>
          <p:nvPr/>
        </p:nvSpPr>
        <p:spPr>
          <a:xfrm>
            <a:off x="4626864" y="2148840"/>
            <a:ext cx="2980944" cy="4023360"/>
          </a:xfrm>
          <a:prstGeom prst="rect">
            <a:avLst/>
          </a:prstGeom>
          <a:noFill/>
        </p:spPr>
        <p:txBody>
          <a:bodyPr wrap="square" lIns="0" tIns="0" rIns="0" bIns="0" anchor="t">
            <a:spAutoFit/>
          </a:bodyPr>
          <a:lstStyle/>
          <a:p>
            <a:pPr marL="201168" indent="-201168" algn="l">
              <a:spcAft>
                <a:spcPts val="900"/>
              </a:spcAft>
              <a:buClr>
                <a:srgbClr val="9E3B3B"/>
              </a:buClr>
              <a:buChar char="•"/>
            </a:pPr>
            <a:r>
              <a:rPr sz="1250" b="1">
                <a:solidFill>
                  <a:srgbClr val="9E3B3B"/>
                </a:solidFill>
                <a:latin typeface="Calibri"/>
              </a:rPr>
              <a:t>Poor sleep</a:t>
            </a:r>
            <a:r>
              <a:rPr sz="1100" b="0">
                <a:solidFill>
                  <a:srgbClr val="8A5A5A"/>
                </a:solidFill>
                <a:latin typeface="Calibri"/>
              </a:rPr>
              <a:t>  —  5 hrs/day, below 6-hr threshold</a:t>
            </a:r>
          </a:p>
          <a:p>
            <a:pPr marL="201168" indent="-201168" algn="l">
              <a:spcAft>
                <a:spcPts val="900"/>
              </a:spcAft>
              <a:buClr>
                <a:srgbClr val="9E3B3B"/>
              </a:buClr>
              <a:buChar char="•"/>
            </a:pPr>
            <a:r>
              <a:rPr sz="1250" b="1">
                <a:solidFill>
                  <a:srgbClr val="9E3B3B"/>
                </a:solidFill>
                <a:latin typeface="Calibri"/>
              </a:rPr>
              <a:t>Sedentary lifestyle</a:t>
            </a:r>
            <a:r>
              <a:rPr sz="1100" b="0">
                <a:solidFill>
                  <a:srgbClr val="8A5A5A"/>
                </a:solidFill>
                <a:latin typeface="Calibri"/>
              </a:rPr>
              <a:t>  —  no exercise, 9 hrs sitting</a:t>
            </a:r>
          </a:p>
          <a:p>
            <a:pPr marL="201168" indent="-201168" algn="l">
              <a:spcAft>
                <a:spcPts val="900"/>
              </a:spcAft>
              <a:buClr>
                <a:srgbClr val="9E3B3B"/>
              </a:buClr>
              <a:buChar char="•"/>
            </a:pPr>
            <a:r>
              <a:rPr sz="1250" b="1">
                <a:solidFill>
                  <a:srgbClr val="9E3B3B"/>
                </a:solidFill>
                <a:latin typeface="Calibri"/>
              </a:rPr>
              <a:t>High stress</a:t>
            </a:r>
          </a:p>
          <a:p>
            <a:pPr marL="201168" indent="-201168" algn="l">
              <a:spcAft>
                <a:spcPts val="900"/>
              </a:spcAft>
              <a:buClr>
                <a:srgbClr val="9E3B3B"/>
              </a:buClr>
              <a:buChar char="•"/>
            </a:pPr>
            <a:r>
              <a:rPr sz="1250" b="1">
                <a:solidFill>
                  <a:srgbClr val="9E3B3B"/>
                </a:solidFill>
                <a:latin typeface="Calibri"/>
              </a:rPr>
              <a:t>Unhealthy diet</a:t>
            </a:r>
            <a:r>
              <a:rPr sz="1100" b="0">
                <a:solidFill>
                  <a:srgbClr val="8A5A5A"/>
                </a:solidFill>
                <a:latin typeface="Calibri"/>
              </a:rPr>
              <a:t>  —  frequent fast food</a:t>
            </a:r>
          </a:p>
          <a:p>
            <a:pPr marL="201168" indent="-201168" algn="l">
              <a:spcAft>
                <a:spcPts val="900"/>
              </a:spcAft>
              <a:buClr>
                <a:srgbClr val="9E3B3B"/>
              </a:buClr>
              <a:buChar char="•"/>
            </a:pPr>
            <a:r>
              <a:rPr sz="1250" b="1">
                <a:solidFill>
                  <a:srgbClr val="9E3B3B"/>
                </a:solidFill>
                <a:latin typeface="Calibri"/>
              </a:rPr>
              <a:t>Low water intake</a:t>
            </a:r>
            <a:r>
              <a:rPr sz="1100" b="0">
                <a:solidFill>
                  <a:srgbClr val="8A5A5A"/>
                </a:solidFill>
                <a:latin typeface="Calibri"/>
              </a:rPr>
              <a:t>  —  1 L/day</a:t>
            </a:r>
          </a:p>
          <a:p>
            <a:pPr marL="201168" indent="-201168" algn="l">
              <a:spcAft>
                <a:spcPts val="900"/>
              </a:spcAft>
              <a:buClr>
                <a:srgbClr val="9E3B3B"/>
              </a:buClr>
              <a:buChar char="•"/>
            </a:pPr>
            <a:r>
              <a:rPr sz="1250" b="1">
                <a:solidFill>
                  <a:srgbClr val="9E3B3B"/>
                </a:solidFill>
                <a:latin typeface="Calibri"/>
              </a:rPr>
              <a:t>Obese (BMI)</a:t>
            </a:r>
            <a:r>
              <a:rPr sz="1100" b="0">
                <a:solidFill>
                  <a:srgbClr val="8A5A5A"/>
                </a:solidFill>
                <a:latin typeface="Calibri"/>
              </a:rPr>
              <a:t>  —  BMI 27.0 ≥ Asian-Indian cutoff 25.0</a:t>
            </a:r>
          </a:p>
          <a:p>
            <a:pPr marL="201168" indent="-201168" algn="l">
              <a:spcAft>
                <a:spcPts val="900"/>
              </a:spcAft>
              <a:buClr>
                <a:srgbClr val="9E3B3B"/>
              </a:buClr>
              <a:buChar char="•"/>
            </a:pPr>
            <a:r>
              <a:rPr sz="1250" b="1">
                <a:solidFill>
                  <a:srgbClr val="9E3B3B"/>
                </a:solidFill>
                <a:latin typeface="Calibri"/>
              </a:rPr>
              <a:t>Possible hypertension</a:t>
            </a:r>
            <a:r>
              <a:rPr sz="1100" b="0">
                <a:solidFill>
                  <a:srgbClr val="8A5A5A"/>
                </a:solidFill>
                <a:latin typeface="Calibri"/>
              </a:rPr>
              <a:t>  —  3 contributing factors</a:t>
            </a:r>
          </a:p>
        </p:txBody>
      </p:sp>
      <p:sp>
        <p:nvSpPr>
          <p:cNvPr id="28" name="Rounded Rectangle 27"/>
          <p:cNvSpPr/>
          <p:nvPr/>
        </p:nvSpPr>
        <p:spPr>
          <a:xfrm>
            <a:off x="8065008" y="1600200"/>
            <a:ext cx="3483864" cy="4754880"/>
          </a:xfrm>
          <a:prstGeom prst="roundRect">
            <a:avLst>
              <a:gd name="adj" fmla="val 4000"/>
            </a:avLst>
          </a:prstGeom>
          <a:solidFill>
            <a:srgbClr val="E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39328" y="1801368"/>
            <a:ext cx="3026664" cy="228600"/>
          </a:xfrm>
          <a:prstGeom prst="rect">
            <a:avLst/>
          </a:prstGeom>
          <a:noFill/>
        </p:spPr>
        <p:txBody>
          <a:bodyPr wrap="square" lIns="0" tIns="0" rIns="0" bIns="0" anchor="ctr">
            <a:spAutoFit/>
          </a:bodyPr>
          <a:lstStyle/>
          <a:p>
            <a:pPr algn="l"/>
            <a:r>
              <a:rPr sz="1100" b="1" spc="200">
                <a:solidFill>
                  <a:srgbClr val="1C7A56"/>
                </a:solidFill>
                <a:latin typeface="Calibri"/>
              </a:rPr>
              <a:t>AI RECOMMENDATIONS</a:t>
            </a:r>
          </a:p>
        </p:txBody>
      </p:sp>
      <p:sp>
        <p:nvSpPr>
          <p:cNvPr id="30" name="TextBox 29"/>
          <p:cNvSpPr txBox="1"/>
          <p:nvPr/>
        </p:nvSpPr>
        <p:spPr>
          <a:xfrm>
            <a:off x="8339328" y="2148840"/>
            <a:ext cx="2980944" cy="4023360"/>
          </a:xfrm>
          <a:prstGeom prst="rect">
            <a:avLst/>
          </a:prstGeom>
          <a:noFill/>
        </p:spPr>
        <p:txBody>
          <a:bodyPr wrap="square" lIns="0" tIns="0" rIns="0" bIns="0" anchor="t">
            <a:spAutoFit/>
          </a:bodyPr>
          <a:lstStyle/>
          <a:p>
            <a:pPr marL="201168" indent="-201168" algn="l">
              <a:spcAft>
                <a:spcPts val="200"/>
              </a:spcAft>
              <a:buClr>
                <a:srgbClr val="1C7A56"/>
              </a:buClr>
              <a:buChar char="•"/>
            </a:pPr>
            <a:r>
              <a:rPr sz="1200" b="0">
                <a:solidFill>
                  <a:srgbClr val="1F4A3A"/>
                </a:solidFill>
                <a:latin typeface="Calibri"/>
              </a:rPr>
              <a:t>Build up to 150 min of moderate activity per week</a:t>
            </a:r>
          </a:p>
          <a:p>
            <a:pPr algn="l">
              <a:spcAft>
                <a:spcPts val="900"/>
              </a:spcAft>
            </a:pPr>
            <a:r>
              <a:rPr sz="1000" b="1">
                <a:solidFill>
                  <a:srgbClr val="1C7A56"/>
                </a:solidFill>
                <a:latin typeface="Calibri"/>
              </a:rPr>
              <a:t>   WHO Physical Activity Guidelines, p.42</a:t>
            </a:r>
          </a:p>
          <a:p>
            <a:pPr marL="201168" indent="-201168" algn="l">
              <a:spcAft>
                <a:spcPts val="200"/>
              </a:spcAft>
              <a:buClr>
                <a:srgbClr val="1C7A56"/>
              </a:buClr>
              <a:buChar char="•"/>
            </a:pPr>
            <a:r>
              <a:rPr sz="1200" b="0">
                <a:solidFill>
                  <a:srgbClr val="1F4A3A"/>
                </a:solidFill>
                <a:latin typeface="Calibri"/>
              </a:rPr>
              <a:t>Replace fast food with fruits, vegetables, whole grains</a:t>
            </a:r>
          </a:p>
          <a:p>
            <a:pPr algn="l">
              <a:spcAft>
                <a:spcPts val="900"/>
              </a:spcAft>
            </a:pPr>
            <a:r>
              <a:rPr sz="1000" b="1">
                <a:solidFill>
                  <a:srgbClr val="1C7A56"/>
                </a:solidFill>
                <a:latin typeface="Calibri"/>
              </a:rPr>
              <a:t>   ICMR-NIN Dietary Guidelines, p.88</a:t>
            </a:r>
          </a:p>
          <a:p>
            <a:pPr marL="201168" indent="-201168" algn="l">
              <a:spcAft>
                <a:spcPts val="200"/>
              </a:spcAft>
              <a:buClr>
                <a:srgbClr val="1C7A56"/>
              </a:buClr>
              <a:buChar char="•"/>
            </a:pPr>
            <a:r>
              <a:rPr sz="1200" b="0">
                <a:solidFill>
                  <a:srgbClr val="1F4A3A"/>
                </a:solidFill>
                <a:latin typeface="Calibri"/>
              </a:rPr>
              <a:t>Short yoga / pranayama bouts, 5–10 min several times a day</a:t>
            </a:r>
          </a:p>
          <a:p>
            <a:pPr algn="l">
              <a:spcAft>
                <a:spcPts val="900"/>
              </a:spcAft>
            </a:pPr>
            <a:r>
              <a:rPr sz="1000" b="1">
                <a:solidFill>
                  <a:srgbClr val="1C7A56"/>
                </a:solidFill>
                <a:latin typeface="Calibri"/>
              </a:rPr>
              <a:t>   ICMR-NIN Dietary Guidelines</a:t>
            </a:r>
          </a:p>
          <a:p>
            <a:pPr marL="201168" indent="-201168" algn="l">
              <a:spcAft>
                <a:spcPts val="900"/>
              </a:spcAft>
              <a:buClr>
                <a:srgbClr val="1C7A56"/>
              </a:buClr>
              <a:buChar char="•"/>
            </a:pPr>
            <a:r>
              <a:rPr sz="1200" b="0">
                <a:solidFill>
                  <a:srgbClr val="1F4A3A"/>
                </a:solidFill>
                <a:latin typeface="Calibri"/>
              </a:rPr>
              <a:t>Increase water intake to 2–3 litres a day</a:t>
            </a:r>
          </a:p>
          <a:p>
            <a:pPr marL="201168" indent="-201168" algn="l">
              <a:spcAft>
                <a:spcPts val="900"/>
              </a:spcAft>
              <a:buClr>
                <a:srgbClr val="1C7A56"/>
              </a:buClr>
              <a:buChar char="•"/>
            </a:pPr>
            <a:r>
              <a:rPr sz="1200" b="0">
                <a:solidFill>
                  <a:srgbClr val="1F4A3A"/>
                </a:solidFill>
                <a:latin typeface="Calibri"/>
              </a:rPr>
              <a:t>Aim for 7–8 hrs of sleep with a consistent bedtime</a:t>
            </a:r>
          </a:p>
          <a:p>
            <a:pPr algn="l"/>
            <a:r>
              <a:rPr sz="1000" b="0">
                <a:solidFill>
                  <a:srgbClr val="6E837F"/>
                </a:solidFill>
                <a:latin typeface="Calibri"/>
              </a:rPr>
              <a:t>Every recommendation is retrieved from a real guideline PDF with its page; no match → general guidance, never an invented citation.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65760"/>
            <a:ext cx="10881360" cy="731520"/>
          </a:xfrm>
          <a:prstGeom prst="rect">
            <a:avLst/>
          </a:prstGeom>
          <a:noFill/>
        </p:spPr>
        <p:txBody>
          <a:bodyPr wrap="square" lIns="0" tIns="0" rIns="0" bIns="0" anchor="ctr">
            <a:spAutoFit/>
          </a:bodyPr>
          <a:lstStyle/>
          <a:p>
            <a:pPr algn="l"/>
            <a:r>
              <a:rPr sz="3200" b="1">
                <a:solidFill>
                  <a:srgbClr val="0C3833"/>
                </a:solidFill>
                <a:latin typeface="Cambria"/>
              </a:rPr>
              <a:t>Technology &amp; Wellness Scoring</a:t>
            </a:r>
          </a:p>
        </p:txBody>
      </p:sp>
      <p:sp>
        <p:nvSpPr>
          <p:cNvPr id="3" name="Rounded Rectangle 2"/>
          <p:cNvSpPr/>
          <p:nvPr/>
        </p:nvSpPr>
        <p:spPr>
          <a:xfrm>
            <a:off x="640080" y="1371600"/>
            <a:ext cx="4892040" cy="731520"/>
          </a:xfrm>
          <a:prstGeom prst="roundRect">
            <a:avLst>
              <a:gd name="adj" fmla="val 8000"/>
            </a:avLst>
          </a:prstGeom>
          <a:solidFill>
            <a:srgbClr val="F1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86384" y="1536192"/>
            <a:ext cx="402336" cy="402336"/>
          </a:xfrm>
          <a:prstGeom prst="ellipse">
            <a:avLst/>
          </a:prstGeom>
          <a:solidFill>
            <a:srgbClr val="0E7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6384" y="1536192"/>
            <a:ext cx="402336" cy="402336"/>
          </a:xfrm>
          <a:prstGeom prst="rect">
            <a:avLst/>
          </a:prstGeom>
          <a:noFill/>
        </p:spPr>
        <p:txBody>
          <a:bodyPr wrap="square" lIns="0" tIns="0" rIns="0" bIns="0" anchor="ctr">
            <a:spAutoFit/>
          </a:bodyPr>
          <a:lstStyle/>
          <a:p>
            <a:pPr algn="ctr"/>
            <a:r>
              <a:rPr sz="1200" b="1">
                <a:solidFill>
                  <a:srgbClr val="FFFFFF"/>
                </a:solidFill>
                <a:latin typeface="Calibri"/>
              </a:rPr>
              <a:t>1</a:t>
            </a:r>
          </a:p>
        </p:txBody>
      </p:sp>
      <p:sp>
        <p:nvSpPr>
          <p:cNvPr id="6" name="TextBox 5"/>
          <p:cNvSpPr txBox="1"/>
          <p:nvPr/>
        </p:nvSpPr>
        <p:spPr>
          <a:xfrm>
            <a:off x="1353312" y="1435608"/>
            <a:ext cx="4069080" cy="603504"/>
          </a:xfrm>
          <a:prstGeom prst="rect">
            <a:avLst/>
          </a:prstGeom>
          <a:noFill/>
        </p:spPr>
        <p:txBody>
          <a:bodyPr wrap="square" lIns="0" tIns="0" rIns="0" bIns="0" anchor="ctr">
            <a:spAutoFit/>
          </a:bodyPr>
          <a:lstStyle/>
          <a:p>
            <a:pPr algn="l"/>
            <a:r>
              <a:rPr sz="1300" b="1">
                <a:solidFill>
                  <a:srgbClr val="0C3833"/>
                </a:solidFill>
                <a:latin typeface="Calibri"/>
              </a:rPr>
              <a:t>Speech Processing</a:t>
            </a:r>
          </a:p>
          <a:p>
            <a:pPr algn="l"/>
            <a:r>
              <a:rPr sz="1100" b="0">
                <a:solidFill>
                  <a:srgbClr val="27403D"/>
                </a:solidFill>
                <a:latin typeface="Calibri"/>
              </a:rPr>
              <a:t>Groq Speech-to-Text API — transcription &amp; translation</a:t>
            </a:r>
          </a:p>
        </p:txBody>
      </p:sp>
      <p:sp>
        <p:nvSpPr>
          <p:cNvPr id="7" name="Rounded Rectangle 6"/>
          <p:cNvSpPr/>
          <p:nvPr/>
        </p:nvSpPr>
        <p:spPr>
          <a:xfrm>
            <a:off x="640080" y="2194560"/>
            <a:ext cx="4892040" cy="731520"/>
          </a:xfrm>
          <a:prstGeom prst="roundRect">
            <a:avLst>
              <a:gd name="adj" fmla="val 8000"/>
            </a:avLst>
          </a:prstGeom>
          <a:solidFill>
            <a:srgbClr val="F1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86384" y="2359152"/>
            <a:ext cx="402336" cy="402336"/>
          </a:xfrm>
          <a:prstGeom prst="ellipse">
            <a:avLst/>
          </a:prstGeom>
          <a:solidFill>
            <a:srgbClr val="0E7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6384" y="2359152"/>
            <a:ext cx="402336" cy="402336"/>
          </a:xfrm>
          <a:prstGeom prst="rect">
            <a:avLst/>
          </a:prstGeom>
          <a:noFill/>
        </p:spPr>
        <p:txBody>
          <a:bodyPr wrap="square" lIns="0" tIns="0" rIns="0" bIns="0" anchor="ctr">
            <a:spAutoFit/>
          </a:bodyPr>
          <a:lstStyle/>
          <a:p>
            <a:pPr algn="ctr"/>
            <a:r>
              <a:rPr sz="1200" b="1">
                <a:solidFill>
                  <a:srgbClr val="FFFFFF"/>
                </a:solidFill>
                <a:latin typeface="Calibri"/>
              </a:rPr>
              <a:t>2</a:t>
            </a:r>
          </a:p>
        </p:txBody>
      </p:sp>
      <p:sp>
        <p:nvSpPr>
          <p:cNvPr id="10" name="TextBox 9"/>
          <p:cNvSpPr txBox="1"/>
          <p:nvPr/>
        </p:nvSpPr>
        <p:spPr>
          <a:xfrm>
            <a:off x="1353312" y="2258568"/>
            <a:ext cx="4069080" cy="603504"/>
          </a:xfrm>
          <a:prstGeom prst="rect">
            <a:avLst/>
          </a:prstGeom>
          <a:noFill/>
        </p:spPr>
        <p:txBody>
          <a:bodyPr wrap="square" lIns="0" tIns="0" rIns="0" bIns="0" anchor="ctr">
            <a:spAutoFit/>
          </a:bodyPr>
          <a:lstStyle/>
          <a:p>
            <a:pPr algn="l"/>
            <a:r>
              <a:rPr sz="1300" b="1">
                <a:solidFill>
                  <a:srgbClr val="0C3833"/>
                </a:solidFill>
                <a:latin typeface="Calibri"/>
              </a:rPr>
              <a:t>Conversational AI</a:t>
            </a:r>
          </a:p>
          <a:p>
            <a:pPr algn="l"/>
            <a:r>
              <a:rPr sz="1100" b="0">
                <a:solidFill>
                  <a:srgbClr val="27403D"/>
                </a:solidFill>
                <a:latin typeface="Calibri"/>
              </a:rPr>
              <a:t>Groq · openai/gpt-oss-120b — extraction &amp; question generation</a:t>
            </a:r>
          </a:p>
        </p:txBody>
      </p:sp>
      <p:sp>
        <p:nvSpPr>
          <p:cNvPr id="11" name="Rounded Rectangle 10"/>
          <p:cNvSpPr/>
          <p:nvPr/>
        </p:nvSpPr>
        <p:spPr>
          <a:xfrm>
            <a:off x="640080" y="3017520"/>
            <a:ext cx="4892040" cy="731520"/>
          </a:xfrm>
          <a:prstGeom prst="roundRect">
            <a:avLst>
              <a:gd name="adj" fmla="val 8000"/>
            </a:avLst>
          </a:prstGeom>
          <a:solidFill>
            <a:srgbClr val="F1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86384" y="3182112"/>
            <a:ext cx="402336" cy="402336"/>
          </a:xfrm>
          <a:prstGeom prst="ellipse">
            <a:avLst/>
          </a:prstGeom>
          <a:solidFill>
            <a:srgbClr val="0E7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6384" y="3182112"/>
            <a:ext cx="402336" cy="402336"/>
          </a:xfrm>
          <a:prstGeom prst="rect">
            <a:avLst/>
          </a:prstGeom>
          <a:noFill/>
        </p:spPr>
        <p:txBody>
          <a:bodyPr wrap="square" lIns="0" tIns="0" rIns="0" bIns="0" anchor="ctr">
            <a:spAutoFit/>
          </a:bodyPr>
          <a:lstStyle/>
          <a:p>
            <a:pPr algn="ctr"/>
            <a:r>
              <a:rPr sz="1200" b="1">
                <a:solidFill>
                  <a:srgbClr val="FFFFFF"/>
                </a:solidFill>
                <a:latin typeface="Calibri"/>
              </a:rPr>
              <a:t>3</a:t>
            </a:r>
          </a:p>
        </p:txBody>
      </p:sp>
      <p:sp>
        <p:nvSpPr>
          <p:cNvPr id="14" name="TextBox 13"/>
          <p:cNvSpPr txBox="1"/>
          <p:nvPr/>
        </p:nvSpPr>
        <p:spPr>
          <a:xfrm>
            <a:off x="1353312" y="3081527"/>
            <a:ext cx="4069080" cy="603504"/>
          </a:xfrm>
          <a:prstGeom prst="rect">
            <a:avLst/>
          </a:prstGeom>
          <a:noFill/>
        </p:spPr>
        <p:txBody>
          <a:bodyPr wrap="square" lIns="0" tIns="0" rIns="0" bIns="0" anchor="ctr">
            <a:spAutoFit/>
          </a:bodyPr>
          <a:lstStyle/>
          <a:p>
            <a:pPr algn="l"/>
            <a:r>
              <a:rPr sz="1300" b="1">
                <a:solidFill>
                  <a:srgbClr val="0C3833"/>
                </a:solidFill>
                <a:latin typeface="Calibri"/>
              </a:rPr>
              <a:t>Medical NLP</a:t>
            </a:r>
          </a:p>
          <a:p>
            <a:pPr algn="l"/>
            <a:r>
              <a:rPr sz="1100" b="0">
                <a:solidFill>
                  <a:srgbClr val="27403D"/>
                </a:solidFill>
                <a:latin typeface="Calibri"/>
              </a:rPr>
              <a:t>scispaCy en_ner_bc5cdr_md — symptom &amp; disease NER</a:t>
            </a:r>
          </a:p>
        </p:txBody>
      </p:sp>
      <p:sp>
        <p:nvSpPr>
          <p:cNvPr id="15" name="Rounded Rectangle 14"/>
          <p:cNvSpPr/>
          <p:nvPr/>
        </p:nvSpPr>
        <p:spPr>
          <a:xfrm>
            <a:off x="640080" y="3840480"/>
            <a:ext cx="4892040" cy="731520"/>
          </a:xfrm>
          <a:prstGeom prst="roundRect">
            <a:avLst>
              <a:gd name="adj" fmla="val 8000"/>
            </a:avLst>
          </a:prstGeom>
          <a:solidFill>
            <a:srgbClr val="F1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86384" y="4005072"/>
            <a:ext cx="402336" cy="402336"/>
          </a:xfrm>
          <a:prstGeom prst="ellipse">
            <a:avLst/>
          </a:prstGeom>
          <a:solidFill>
            <a:srgbClr val="0E7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6384" y="4005072"/>
            <a:ext cx="402336" cy="402336"/>
          </a:xfrm>
          <a:prstGeom prst="rect">
            <a:avLst/>
          </a:prstGeom>
          <a:noFill/>
        </p:spPr>
        <p:txBody>
          <a:bodyPr wrap="square" lIns="0" tIns="0" rIns="0" bIns="0" anchor="ctr">
            <a:spAutoFit/>
          </a:bodyPr>
          <a:lstStyle/>
          <a:p>
            <a:pPr algn="ctr"/>
            <a:r>
              <a:rPr sz="1200" b="1">
                <a:solidFill>
                  <a:srgbClr val="FFFFFF"/>
                </a:solidFill>
                <a:latin typeface="Calibri"/>
              </a:rPr>
              <a:t>4</a:t>
            </a:r>
          </a:p>
        </p:txBody>
      </p:sp>
      <p:sp>
        <p:nvSpPr>
          <p:cNvPr id="18" name="TextBox 17"/>
          <p:cNvSpPr txBox="1"/>
          <p:nvPr/>
        </p:nvSpPr>
        <p:spPr>
          <a:xfrm>
            <a:off x="1353312" y="3904488"/>
            <a:ext cx="4069080" cy="603504"/>
          </a:xfrm>
          <a:prstGeom prst="rect">
            <a:avLst/>
          </a:prstGeom>
          <a:noFill/>
        </p:spPr>
        <p:txBody>
          <a:bodyPr wrap="square" lIns="0" tIns="0" rIns="0" bIns="0" anchor="ctr">
            <a:spAutoFit/>
          </a:bodyPr>
          <a:lstStyle/>
          <a:p>
            <a:pPr algn="l"/>
            <a:r>
              <a:rPr sz="1300" b="1">
                <a:solidFill>
                  <a:srgbClr val="0C3833"/>
                </a:solidFill>
                <a:latin typeface="Calibri"/>
              </a:rPr>
              <a:t>NLP Processing</a:t>
            </a:r>
          </a:p>
          <a:p>
            <a:pPr algn="l"/>
            <a:r>
              <a:rPr sz="1100" b="0">
                <a:solidFill>
                  <a:srgbClr val="27403D"/>
                </a:solidFill>
                <a:latin typeface="Calibri"/>
              </a:rPr>
              <a:t>Named Entity Recognition + regex unit parsing</a:t>
            </a:r>
          </a:p>
        </p:txBody>
      </p:sp>
      <p:sp>
        <p:nvSpPr>
          <p:cNvPr id="19" name="Rounded Rectangle 18"/>
          <p:cNvSpPr/>
          <p:nvPr/>
        </p:nvSpPr>
        <p:spPr>
          <a:xfrm>
            <a:off x="640080" y="4663440"/>
            <a:ext cx="4892040" cy="731520"/>
          </a:xfrm>
          <a:prstGeom prst="roundRect">
            <a:avLst>
              <a:gd name="adj" fmla="val 8000"/>
            </a:avLst>
          </a:prstGeom>
          <a:solidFill>
            <a:srgbClr val="F1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86384" y="4828031"/>
            <a:ext cx="402336" cy="402336"/>
          </a:xfrm>
          <a:prstGeom prst="ellipse">
            <a:avLst/>
          </a:prstGeom>
          <a:solidFill>
            <a:srgbClr val="0E7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86384" y="4828031"/>
            <a:ext cx="402336" cy="402336"/>
          </a:xfrm>
          <a:prstGeom prst="rect">
            <a:avLst/>
          </a:prstGeom>
          <a:noFill/>
        </p:spPr>
        <p:txBody>
          <a:bodyPr wrap="square" lIns="0" tIns="0" rIns="0" bIns="0" anchor="ctr">
            <a:spAutoFit/>
          </a:bodyPr>
          <a:lstStyle/>
          <a:p>
            <a:pPr algn="ctr"/>
            <a:r>
              <a:rPr sz="1200" b="1">
                <a:solidFill>
                  <a:srgbClr val="FFFFFF"/>
                </a:solidFill>
                <a:latin typeface="Calibri"/>
              </a:rPr>
              <a:t>5</a:t>
            </a:r>
          </a:p>
        </p:txBody>
      </p:sp>
      <p:sp>
        <p:nvSpPr>
          <p:cNvPr id="22" name="TextBox 21"/>
          <p:cNvSpPr txBox="1"/>
          <p:nvPr/>
        </p:nvSpPr>
        <p:spPr>
          <a:xfrm>
            <a:off x="1353312" y="4727448"/>
            <a:ext cx="4069080" cy="603504"/>
          </a:xfrm>
          <a:prstGeom prst="rect">
            <a:avLst/>
          </a:prstGeom>
          <a:noFill/>
        </p:spPr>
        <p:txBody>
          <a:bodyPr wrap="square" lIns="0" tIns="0" rIns="0" bIns="0" anchor="ctr">
            <a:spAutoFit/>
          </a:bodyPr>
          <a:lstStyle/>
          <a:p>
            <a:pPr algn="l"/>
            <a:r>
              <a:rPr sz="1300" b="1">
                <a:solidFill>
                  <a:srgbClr val="0C3833"/>
                </a:solidFill>
                <a:latin typeface="Calibri"/>
              </a:rPr>
              <a:t>Knowledge Retrieval</a:t>
            </a:r>
          </a:p>
          <a:p>
            <a:pPr algn="l"/>
            <a:r>
              <a:rPr sz="1100" b="0">
                <a:solidFill>
                  <a:srgbClr val="27403D"/>
                </a:solidFill>
                <a:latin typeface="Calibri"/>
              </a:rPr>
              <a:t>ChromaDB · RAG over WHO and ICMR-NIN guideline PDFs</a:t>
            </a:r>
          </a:p>
        </p:txBody>
      </p:sp>
      <p:sp>
        <p:nvSpPr>
          <p:cNvPr id="23" name="Rounded Rectangle 22"/>
          <p:cNvSpPr/>
          <p:nvPr/>
        </p:nvSpPr>
        <p:spPr>
          <a:xfrm>
            <a:off x="640080" y="5486400"/>
            <a:ext cx="4892040" cy="731520"/>
          </a:xfrm>
          <a:prstGeom prst="roundRect">
            <a:avLst>
              <a:gd name="adj" fmla="val 8000"/>
            </a:avLst>
          </a:prstGeom>
          <a:solidFill>
            <a:srgbClr val="F1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86384" y="5650992"/>
            <a:ext cx="402336" cy="402336"/>
          </a:xfrm>
          <a:prstGeom prst="ellipse">
            <a:avLst/>
          </a:prstGeom>
          <a:solidFill>
            <a:srgbClr val="0E7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86384" y="5650992"/>
            <a:ext cx="402336" cy="402336"/>
          </a:xfrm>
          <a:prstGeom prst="rect">
            <a:avLst/>
          </a:prstGeom>
          <a:noFill/>
        </p:spPr>
        <p:txBody>
          <a:bodyPr wrap="square" lIns="0" tIns="0" rIns="0" bIns="0" anchor="ctr">
            <a:spAutoFit/>
          </a:bodyPr>
          <a:lstStyle/>
          <a:p>
            <a:pPr algn="ctr"/>
            <a:r>
              <a:rPr sz="1200" b="1">
                <a:solidFill>
                  <a:srgbClr val="FFFFFF"/>
                </a:solidFill>
                <a:latin typeface="Calibri"/>
              </a:rPr>
              <a:t>6</a:t>
            </a:r>
          </a:p>
        </p:txBody>
      </p:sp>
      <p:sp>
        <p:nvSpPr>
          <p:cNvPr id="26" name="TextBox 25"/>
          <p:cNvSpPr txBox="1"/>
          <p:nvPr/>
        </p:nvSpPr>
        <p:spPr>
          <a:xfrm>
            <a:off x="1353312" y="5550408"/>
            <a:ext cx="4069080" cy="603504"/>
          </a:xfrm>
          <a:prstGeom prst="rect">
            <a:avLst/>
          </a:prstGeom>
          <a:noFill/>
        </p:spPr>
        <p:txBody>
          <a:bodyPr wrap="square" lIns="0" tIns="0" rIns="0" bIns="0" anchor="ctr">
            <a:spAutoFit/>
          </a:bodyPr>
          <a:lstStyle/>
          <a:p>
            <a:pPr algn="l"/>
            <a:r>
              <a:rPr sz="1300" b="1">
                <a:solidFill>
                  <a:srgbClr val="0C3833"/>
                </a:solidFill>
                <a:latin typeface="Calibri"/>
              </a:rPr>
              <a:t>Backend &amp; Frontend</a:t>
            </a:r>
          </a:p>
          <a:p>
            <a:pPr algn="l"/>
            <a:r>
              <a:rPr sz="1100" b="0">
                <a:solidFill>
                  <a:srgbClr val="27403D"/>
                </a:solidFill>
                <a:latin typeface="Calibri"/>
              </a:rPr>
              <a:t>Django + DRF · SQLite · Next.js</a:t>
            </a:r>
          </a:p>
        </p:txBody>
      </p:sp>
      <p:sp>
        <p:nvSpPr>
          <p:cNvPr id="27" name="TextBox 26"/>
          <p:cNvSpPr txBox="1"/>
          <p:nvPr/>
        </p:nvSpPr>
        <p:spPr>
          <a:xfrm>
            <a:off x="5897880" y="1325880"/>
            <a:ext cx="5650992" cy="365760"/>
          </a:xfrm>
          <a:prstGeom prst="rect">
            <a:avLst/>
          </a:prstGeom>
          <a:noFill/>
        </p:spPr>
        <p:txBody>
          <a:bodyPr wrap="square" lIns="0" tIns="0" rIns="0" bIns="0" anchor="ctr">
            <a:spAutoFit/>
          </a:bodyPr>
          <a:lstStyle/>
          <a:p>
            <a:pPr algn="l"/>
            <a:r>
              <a:rPr sz="1600" b="1">
                <a:solidFill>
                  <a:srgbClr val="0E7C8A"/>
                </a:solidFill>
                <a:latin typeface="Calibri"/>
              </a:rPr>
              <a:t>Wellness Score: deterministic, not AI-generated</a:t>
            </a:r>
          </a:p>
        </p:txBody>
      </p:sp>
      <p:sp>
        <p:nvSpPr>
          <p:cNvPr id="28" name="TextBox 27"/>
          <p:cNvSpPr txBox="1"/>
          <p:nvPr/>
        </p:nvSpPr>
        <p:spPr>
          <a:xfrm>
            <a:off x="5897880" y="1719072"/>
            <a:ext cx="5650992" cy="457200"/>
          </a:xfrm>
          <a:prstGeom prst="rect">
            <a:avLst/>
          </a:prstGeom>
          <a:noFill/>
        </p:spPr>
        <p:txBody>
          <a:bodyPr wrap="square" lIns="0" tIns="0" rIns="0" bIns="0" anchor="t">
            <a:spAutoFit/>
          </a:bodyPr>
          <a:lstStyle/>
          <a:p>
            <a:pPr algn="l"/>
            <a:r>
              <a:rPr sz="1150" b="0">
                <a:solidFill>
                  <a:srgbClr val="27403D"/>
                </a:solidFill>
                <a:latin typeface="Calibri"/>
              </a:rPr>
              <a:t>The AI only fills in values; the score is a fixed weight table in plain Python — same inputs, same score, auditable line by line.</a:t>
            </a:r>
          </a:p>
        </p:txBody>
      </p:sp>
      <p:graphicFrame>
        <p:nvGraphicFramePr>
          <p:cNvPr id="29" name="Table 28"/>
          <p:cNvGraphicFramePr>
            <a:graphicFrameLocks noGrp="1"/>
          </p:cNvGraphicFramePr>
          <p:nvPr/>
        </p:nvGraphicFramePr>
        <p:xfrm>
          <a:off x="5897880" y="2286000"/>
          <a:ext cx="5650991" cy="2551176"/>
        </p:xfrm>
        <a:graphic>
          <a:graphicData uri="http://schemas.openxmlformats.org/drawingml/2006/table">
            <a:tbl>
              <a:tblPr>
                <a:tableStyleId>{5C22544A-7EE6-4342-B048-85BDC9FD1C3A}</a:tableStyleId>
              </a:tblPr>
              <a:tblGrid>
                <a:gridCol w="17373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816351">
                  <a:extLst>
                    <a:ext uri="{9D8B030D-6E8A-4147-A177-3AD203B41FA5}">
                      <a16:colId xmlns:a16="http://schemas.microsoft.com/office/drawing/2014/main" val="20002"/>
                    </a:ext>
                  </a:extLst>
                </a:gridCol>
              </a:tblGrid>
              <a:tr h="283464">
                <a:tc>
                  <a:txBody>
                    <a:bodyPr/>
                    <a:lstStyle/>
                    <a:p>
                      <a:r>
                        <a:rPr sz="1150" b="1">
                          <a:solidFill>
                            <a:srgbClr val="FFFFFF"/>
                          </a:solidFill>
                          <a:latin typeface="Calibri"/>
                        </a:rPr>
                        <a:t>Factor</a:t>
                      </a:r>
                    </a:p>
                  </a:txBody>
                  <a:tcPr marL="109728" marT="27432" marB="27432" anchor="ctr">
                    <a:solidFill>
                      <a:srgbClr val="0E7C8A"/>
                    </a:solidFill>
                  </a:tcPr>
                </a:tc>
                <a:tc>
                  <a:txBody>
                    <a:bodyPr/>
                    <a:lstStyle/>
                    <a:p>
                      <a:r>
                        <a:rPr sz="1150" b="1">
                          <a:solidFill>
                            <a:srgbClr val="FFFFFF"/>
                          </a:solidFill>
                          <a:latin typeface="Calibri"/>
                        </a:rPr>
                        <a:t>Weight</a:t>
                      </a:r>
                    </a:p>
                  </a:txBody>
                  <a:tcPr marL="109728" marT="27432" marB="27432" anchor="ctr">
                    <a:solidFill>
                      <a:srgbClr val="0E7C8A"/>
                    </a:solidFill>
                  </a:tcPr>
                </a:tc>
                <a:tc>
                  <a:txBody>
                    <a:bodyPr/>
                    <a:lstStyle/>
                    <a:p>
                      <a:r>
                        <a:rPr sz="1150" b="1">
                          <a:solidFill>
                            <a:srgbClr val="FFFFFF"/>
                          </a:solidFill>
                          <a:latin typeface="Calibri"/>
                        </a:rPr>
                        <a:t>Full marks when</a:t>
                      </a:r>
                    </a:p>
                  </a:txBody>
                  <a:tcPr marL="109728" marT="27432" marB="27432" anchor="ctr">
                    <a:solidFill>
                      <a:srgbClr val="0E7C8A"/>
                    </a:solidFill>
                  </a:tcPr>
                </a:tc>
                <a:extLst>
                  <a:ext uri="{0D108BD9-81ED-4DB2-BD59-A6C34878D82A}">
                    <a16:rowId xmlns:a16="http://schemas.microsoft.com/office/drawing/2014/main" val="10000"/>
                  </a:ext>
                </a:extLst>
              </a:tr>
              <a:tr h="283464">
                <a:tc>
                  <a:txBody>
                    <a:bodyPr/>
                    <a:lstStyle/>
                    <a:p>
                      <a:r>
                        <a:rPr sz="1150" b="1">
                          <a:solidFill>
                            <a:srgbClr val="27403D"/>
                          </a:solidFill>
                          <a:latin typeface="Calibri"/>
                        </a:rPr>
                        <a:t>Sleep</a:t>
                      </a:r>
                    </a:p>
                  </a:txBody>
                  <a:tcPr marL="109728" marT="27432" marB="27432" anchor="ctr">
                    <a:solidFill>
                      <a:srgbClr val="FFFFFF"/>
                    </a:solidFill>
                  </a:tcPr>
                </a:tc>
                <a:tc>
                  <a:txBody>
                    <a:bodyPr/>
                    <a:lstStyle/>
                    <a:p>
                      <a:r>
                        <a:rPr sz="1150" b="0">
                          <a:solidFill>
                            <a:srgbClr val="27403D"/>
                          </a:solidFill>
                          <a:latin typeface="Calibri"/>
                        </a:rPr>
                        <a:t>15</a:t>
                      </a:r>
                    </a:p>
                  </a:txBody>
                  <a:tcPr marL="109728" marT="27432" marB="27432" anchor="ctr">
                    <a:solidFill>
                      <a:srgbClr val="FFFFFF"/>
                    </a:solidFill>
                  </a:tcPr>
                </a:tc>
                <a:tc>
                  <a:txBody>
                    <a:bodyPr/>
                    <a:lstStyle/>
                    <a:p>
                      <a:r>
                        <a:rPr sz="1150" b="0">
                          <a:solidFill>
                            <a:srgbClr val="27403D"/>
                          </a:solidFill>
                          <a:latin typeface="Calibri"/>
                        </a:rPr>
                        <a:t>7–9 hrs/day</a:t>
                      </a:r>
                    </a:p>
                  </a:txBody>
                  <a:tcPr marL="109728" marT="27432" marB="27432" anchor="ctr">
                    <a:solidFill>
                      <a:srgbClr val="FFFFFF"/>
                    </a:solidFill>
                  </a:tcPr>
                </a:tc>
                <a:extLst>
                  <a:ext uri="{0D108BD9-81ED-4DB2-BD59-A6C34878D82A}">
                    <a16:rowId xmlns:a16="http://schemas.microsoft.com/office/drawing/2014/main" val="10001"/>
                  </a:ext>
                </a:extLst>
              </a:tr>
              <a:tr h="283464">
                <a:tc>
                  <a:txBody>
                    <a:bodyPr/>
                    <a:lstStyle/>
                    <a:p>
                      <a:r>
                        <a:rPr sz="1150" b="1">
                          <a:solidFill>
                            <a:srgbClr val="27403D"/>
                          </a:solidFill>
                          <a:latin typeface="Calibri"/>
                        </a:rPr>
                        <a:t>Exercise</a:t>
                      </a:r>
                    </a:p>
                  </a:txBody>
                  <a:tcPr marL="109728" marT="27432" marB="27432" anchor="ctr">
                    <a:solidFill>
                      <a:srgbClr val="F1F6F4"/>
                    </a:solidFill>
                  </a:tcPr>
                </a:tc>
                <a:tc>
                  <a:txBody>
                    <a:bodyPr/>
                    <a:lstStyle/>
                    <a:p>
                      <a:r>
                        <a:rPr sz="1150" b="0">
                          <a:solidFill>
                            <a:srgbClr val="27403D"/>
                          </a:solidFill>
                          <a:latin typeface="Calibri"/>
                        </a:rPr>
                        <a:t>15</a:t>
                      </a:r>
                    </a:p>
                  </a:txBody>
                  <a:tcPr marL="109728" marT="27432" marB="27432" anchor="ctr">
                    <a:solidFill>
                      <a:srgbClr val="F1F6F4"/>
                    </a:solidFill>
                  </a:tcPr>
                </a:tc>
                <a:tc>
                  <a:txBody>
                    <a:bodyPr/>
                    <a:lstStyle/>
                    <a:p>
                      <a:r>
                        <a:rPr sz="1150" b="0">
                          <a:solidFill>
                            <a:srgbClr val="27403D"/>
                          </a:solidFill>
                          <a:latin typeface="Calibri"/>
                        </a:rPr>
                        <a:t>≥150 min/week</a:t>
                      </a:r>
                    </a:p>
                  </a:txBody>
                  <a:tcPr marL="109728" marT="27432" marB="27432" anchor="ctr">
                    <a:solidFill>
                      <a:srgbClr val="F1F6F4"/>
                    </a:solidFill>
                  </a:tcPr>
                </a:tc>
                <a:extLst>
                  <a:ext uri="{0D108BD9-81ED-4DB2-BD59-A6C34878D82A}">
                    <a16:rowId xmlns:a16="http://schemas.microsoft.com/office/drawing/2014/main" val="10002"/>
                  </a:ext>
                </a:extLst>
              </a:tr>
              <a:tr h="283464">
                <a:tc>
                  <a:txBody>
                    <a:bodyPr/>
                    <a:lstStyle/>
                    <a:p>
                      <a:r>
                        <a:rPr sz="1150" b="1">
                          <a:solidFill>
                            <a:srgbClr val="27403D"/>
                          </a:solidFill>
                          <a:latin typeface="Calibri"/>
                        </a:rPr>
                        <a:t>Diet</a:t>
                      </a:r>
                    </a:p>
                  </a:txBody>
                  <a:tcPr marL="109728" marT="27432" marB="27432" anchor="ctr">
                    <a:solidFill>
                      <a:srgbClr val="FFFFFF"/>
                    </a:solidFill>
                  </a:tcPr>
                </a:tc>
                <a:tc>
                  <a:txBody>
                    <a:bodyPr/>
                    <a:lstStyle/>
                    <a:p>
                      <a:r>
                        <a:rPr sz="1150" b="0">
                          <a:solidFill>
                            <a:srgbClr val="27403D"/>
                          </a:solidFill>
                          <a:latin typeface="Calibri"/>
                        </a:rPr>
                        <a:t>15</a:t>
                      </a:r>
                    </a:p>
                  </a:txBody>
                  <a:tcPr marL="109728" marT="27432" marB="27432" anchor="ctr">
                    <a:solidFill>
                      <a:srgbClr val="FFFFFF"/>
                    </a:solidFill>
                  </a:tcPr>
                </a:tc>
                <a:tc>
                  <a:txBody>
                    <a:bodyPr/>
                    <a:lstStyle/>
                    <a:p>
                      <a:r>
                        <a:rPr sz="1150" b="0">
                          <a:solidFill>
                            <a:srgbClr val="27403D"/>
                          </a:solidFill>
                          <a:latin typeface="Calibri"/>
                        </a:rPr>
                        <a:t>Balanced</a:t>
                      </a:r>
                    </a:p>
                  </a:txBody>
                  <a:tcPr marL="109728" marT="27432" marB="27432" anchor="ctr">
                    <a:solidFill>
                      <a:srgbClr val="FFFFFF"/>
                    </a:solidFill>
                  </a:tcPr>
                </a:tc>
                <a:extLst>
                  <a:ext uri="{0D108BD9-81ED-4DB2-BD59-A6C34878D82A}">
                    <a16:rowId xmlns:a16="http://schemas.microsoft.com/office/drawing/2014/main" val="10003"/>
                  </a:ext>
                </a:extLst>
              </a:tr>
              <a:tr h="283464">
                <a:tc>
                  <a:txBody>
                    <a:bodyPr/>
                    <a:lstStyle/>
                    <a:p>
                      <a:r>
                        <a:rPr sz="1150" b="1">
                          <a:solidFill>
                            <a:srgbClr val="27403D"/>
                          </a:solidFill>
                          <a:latin typeface="Calibri"/>
                        </a:rPr>
                        <a:t>Stress</a:t>
                      </a:r>
                    </a:p>
                  </a:txBody>
                  <a:tcPr marL="109728" marT="27432" marB="27432" anchor="ctr">
                    <a:solidFill>
                      <a:srgbClr val="F1F6F4"/>
                    </a:solidFill>
                  </a:tcPr>
                </a:tc>
                <a:tc>
                  <a:txBody>
                    <a:bodyPr/>
                    <a:lstStyle/>
                    <a:p>
                      <a:r>
                        <a:rPr sz="1150" b="0">
                          <a:solidFill>
                            <a:srgbClr val="27403D"/>
                          </a:solidFill>
                          <a:latin typeface="Calibri"/>
                        </a:rPr>
                        <a:t>15</a:t>
                      </a:r>
                    </a:p>
                  </a:txBody>
                  <a:tcPr marL="109728" marT="27432" marB="27432" anchor="ctr">
                    <a:solidFill>
                      <a:srgbClr val="F1F6F4"/>
                    </a:solidFill>
                  </a:tcPr>
                </a:tc>
                <a:tc>
                  <a:txBody>
                    <a:bodyPr/>
                    <a:lstStyle/>
                    <a:p>
                      <a:r>
                        <a:rPr sz="1150" b="0">
                          <a:solidFill>
                            <a:srgbClr val="27403D"/>
                          </a:solidFill>
                          <a:latin typeface="Calibri"/>
                        </a:rPr>
                        <a:t>Low</a:t>
                      </a:r>
                    </a:p>
                  </a:txBody>
                  <a:tcPr marL="109728" marT="27432" marB="27432" anchor="ctr">
                    <a:solidFill>
                      <a:srgbClr val="F1F6F4"/>
                    </a:solidFill>
                  </a:tcPr>
                </a:tc>
                <a:extLst>
                  <a:ext uri="{0D108BD9-81ED-4DB2-BD59-A6C34878D82A}">
                    <a16:rowId xmlns:a16="http://schemas.microsoft.com/office/drawing/2014/main" val="10004"/>
                  </a:ext>
                </a:extLst>
              </a:tr>
              <a:tr h="283464">
                <a:tc>
                  <a:txBody>
                    <a:bodyPr/>
                    <a:lstStyle/>
                    <a:p>
                      <a:r>
                        <a:rPr sz="1150" b="1">
                          <a:solidFill>
                            <a:srgbClr val="27403D"/>
                          </a:solidFill>
                          <a:latin typeface="Calibri"/>
                        </a:rPr>
                        <a:t>Smoking</a:t>
                      </a:r>
                    </a:p>
                  </a:txBody>
                  <a:tcPr marL="109728" marT="27432" marB="27432" anchor="ctr">
                    <a:solidFill>
                      <a:srgbClr val="FFFFFF"/>
                    </a:solidFill>
                  </a:tcPr>
                </a:tc>
                <a:tc>
                  <a:txBody>
                    <a:bodyPr/>
                    <a:lstStyle/>
                    <a:p>
                      <a:r>
                        <a:rPr sz="1150" b="0">
                          <a:solidFill>
                            <a:srgbClr val="27403D"/>
                          </a:solidFill>
                          <a:latin typeface="Calibri"/>
                        </a:rPr>
                        <a:t>15</a:t>
                      </a:r>
                    </a:p>
                  </a:txBody>
                  <a:tcPr marL="109728" marT="27432" marB="27432" anchor="ctr">
                    <a:solidFill>
                      <a:srgbClr val="FFFFFF"/>
                    </a:solidFill>
                  </a:tcPr>
                </a:tc>
                <a:tc>
                  <a:txBody>
                    <a:bodyPr/>
                    <a:lstStyle/>
                    <a:p>
                      <a:r>
                        <a:rPr sz="1150" b="0">
                          <a:solidFill>
                            <a:srgbClr val="27403D"/>
                          </a:solidFill>
                          <a:latin typeface="Calibri"/>
                        </a:rPr>
                        <a:t>None</a:t>
                      </a:r>
                    </a:p>
                  </a:txBody>
                  <a:tcPr marL="109728" marT="27432" marB="27432" anchor="ctr">
                    <a:solidFill>
                      <a:srgbClr val="FFFFFF"/>
                    </a:solidFill>
                  </a:tcPr>
                </a:tc>
                <a:extLst>
                  <a:ext uri="{0D108BD9-81ED-4DB2-BD59-A6C34878D82A}">
                    <a16:rowId xmlns:a16="http://schemas.microsoft.com/office/drawing/2014/main" val="10005"/>
                  </a:ext>
                </a:extLst>
              </a:tr>
              <a:tr h="283464">
                <a:tc>
                  <a:txBody>
                    <a:bodyPr/>
                    <a:lstStyle/>
                    <a:p>
                      <a:r>
                        <a:rPr sz="1150" b="1">
                          <a:solidFill>
                            <a:srgbClr val="27403D"/>
                          </a:solidFill>
                          <a:latin typeface="Calibri"/>
                        </a:rPr>
                        <a:t>Alcohol</a:t>
                      </a:r>
                    </a:p>
                  </a:txBody>
                  <a:tcPr marL="109728" marT="27432" marB="27432" anchor="ctr">
                    <a:solidFill>
                      <a:srgbClr val="F1F6F4"/>
                    </a:solidFill>
                  </a:tcPr>
                </a:tc>
                <a:tc>
                  <a:txBody>
                    <a:bodyPr/>
                    <a:lstStyle/>
                    <a:p>
                      <a:r>
                        <a:rPr sz="1150" b="0">
                          <a:solidFill>
                            <a:srgbClr val="27403D"/>
                          </a:solidFill>
                          <a:latin typeface="Calibri"/>
                        </a:rPr>
                        <a:t>10</a:t>
                      </a:r>
                    </a:p>
                  </a:txBody>
                  <a:tcPr marL="109728" marT="27432" marB="27432" anchor="ctr">
                    <a:solidFill>
                      <a:srgbClr val="F1F6F4"/>
                    </a:solidFill>
                  </a:tcPr>
                </a:tc>
                <a:tc>
                  <a:txBody>
                    <a:bodyPr/>
                    <a:lstStyle/>
                    <a:p>
                      <a:r>
                        <a:rPr sz="1150" b="0">
                          <a:solidFill>
                            <a:srgbClr val="27403D"/>
                          </a:solidFill>
                          <a:latin typeface="Calibri"/>
                        </a:rPr>
                        <a:t>None</a:t>
                      </a:r>
                    </a:p>
                  </a:txBody>
                  <a:tcPr marL="109728" marT="27432" marB="27432" anchor="ctr">
                    <a:solidFill>
                      <a:srgbClr val="F1F6F4"/>
                    </a:solidFill>
                  </a:tcPr>
                </a:tc>
                <a:extLst>
                  <a:ext uri="{0D108BD9-81ED-4DB2-BD59-A6C34878D82A}">
                    <a16:rowId xmlns:a16="http://schemas.microsoft.com/office/drawing/2014/main" val="10006"/>
                  </a:ext>
                </a:extLst>
              </a:tr>
              <a:tr h="283464">
                <a:tc>
                  <a:txBody>
                    <a:bodyPr/>
                    <a:lstStyle/>
                    <a:p>
                      <a:r>
                        <a:rPr sz="1150" b="1">
                          <a:solidFill>
                            <a:srgbClr val="27403D"/>
                          </a:solidFill>
                          <a:latin typeface="Calibri"/>
                        </a:rPr>
                        <a:t>Sitting</a:t>
                      </a:r>
                    </a:p>
                  </a:txBody>
                  <a:tcPr marL="109728" marT="27432" marB="27432" anchor="ctr">
                    <a:solidFill>
                      <a:srgbClr val="FFFFFF"/>
                    </a:solidFill>
                  </a:tcPr>
                </a:tc>
                <a:tc>
                  <a:txBody>
                    <a:bodyPr/>
                    <a:lstStyle/>
                    <a:p>
                      <a:r>
                        <a:rPr sz="1150" b="0">
                          <a:solidFill>
                            <a:srgbClr val="27403D"/>
                          </a:solidFill>
                          <a:latin typeface="Calibri"/>
                        </a:rPr>
                        <a:t>10</a:t>
                      </a:r>
                    </a:p>
                  </a:txBody>
                  <a:tcPr marL="109728" marT="27432" marB="27432" anchor="ctr">
                    <a:solidFill>
                      <a:srgbClr val="FFFFFF"/>
                    </a:solidFill>
                  </a:tcPr>
                </a:tc>
                <a:tc>
                  <a:txBody>
                    <a:bodyPr/>
                    <a:lstStyle/>
                    <a:p>
                      <a:r>
                        <a:rPr sz="1150" b="0">
                          <a:solidFill>
                            <a:srgbClr val="27403D"/>
                          </a:solidFill>
                          <a:latin typeface="Calibri"/>
                        </a:rPr>
                        <a:t>Under 6 hrs/day</a:t>
                      </a:r>
                    </a:p>
                  </a:txBody>
                  <a:tcPr marL="109728" marT="27432" marB="27432" anchor="ctr">
                    <a:solidFill>
                      <a:srgbClr val="FFFFFF"/>
                    </a:solidFill>
                  </a:tcPr>
                </a:tc>
                <a:extLst>
                  <a:ext uri="{0D108BD9-81ED-4DB2-BD59-A6C34878D82A}">
                    <a16:rowId xmlns:a16="http://schemas.microsoft.com/office/drawing/2014/main" val="10007"/>
                  </a:ext>
                </a:extLst>
              </a:tr>
              <a:tr h="283464">
                <a:tc>
                  <a:txBody>
                    <a:bodyPr/>
                    <a:lstStyle/>
                    <a:p>
                      <a:r>
                        <a:rPr sz="1150" b="1">
                          <a:solidFill>
                            <a:srgbClr val="27403D"/>
                          </a:solidFill>
                          <a:latin typeface="Calibri"/>
                        </a:rPr>
                        <a:t>Water</a:t>
                      </a:r>
                    </a:p>
                  </a:txBody>
                  <a:tcPr marL="109728" marT="27432" marB="27432" anchor="ctr">
                    <a:solidFill>
                      <a:srgbClr val="F1F6F4"/>
                    </a:solidFill>
                  </a:tcPr>
                </a:tc>
                <a:tc>
                  <a:txBody>
                    <a:bodyPr/>
                    <a:lstStyle/>
                    <a:p>
                      <a:r>
                        <a:rPr sz="1150" b="0">
                          <a:solidFill>
                            <a:srgbClr val="27403D"/>
                          </a:solidFill>
                          <a:latin typeface="Calibri"/>
                        </a:rPr>
                        <a:t>5</a:t>
                      </a:r>
                    </a:p>
                  </a:txBody>
                  <a:tcPr marL="109728" marT="27432" marB="27432" anchor="ctr">
                    <a:solidFill>
                      <a:srgbClr val="F1F6F4"/>
                    </a:solidFill>
                  </a:tcPr>
                </a:tc>
                <a:tc>
                  <a:txBody>
                    <a:bodyPr/>
                    <a:lstStyle/>
                    <a:p>
                      <a:r>
                        <a:rPr sz="1150" b="0">
                          <a:solidFill>
                            <a:srgbClr val="27403D"/>
                          </a:solidFill>
                          <a:latin typeface="Calibri"/>
                        </a:rPr>
                        <a:t>2–3.5 L/day</a:t>
                      </a:r>
                    </a:p>
                  </a:txBody>
                  <a:tcPr marL="109728" marT="27432" marB="27432" anchor="ctr">
                    <a:solidFill>
                      <a:srgbClr val="F1F6F4"/>
                    </a:solidFill>
                  </a:tcPr>
                </a:tc>
                <a:extLst>
                  <a:ext uri="{0D108BD9-81ED-4DB2-BD59-A6C34878D82A}">
                    <a16:rowId xmlns:a16="http://schemas.microsoft.com/office/drawing/2014/main" val="10008"/>
                  </a:ext>
                </a:extLst>
              </a:tr>
            </a:tbl>
          </a:graphicData>
        </a:graphic>
      </p:graphicFrame>
      <p:sp>
        <p:nvSpPr>
          <p:cNvPr id="30" name="Rounded Rectangle 29"/>
          <p:cNvSpPr/>
          <p:nvPr/>
        </p:nvSpPr>
        <p:spPr>
          <a:xfrm>
            <a:off x="5897880" y="5010912"/>
            <a:ext cx="1344168" cy="566928"/>
          </a:xfrm>
          <a:prstGeom prst="roundRect">
            <a:avLst>
              <a:gd name="adj" fmla="val 10000"/>
            </a:avLst>
          </a:prstGeom>
          <a:solidFill>
            <a:srgbClr val="1C7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897880" y="5010912"/>
            <a:ext cx="1344168" cy="566928"/>
          </a:xfrm>
          <a:prstGeom prst="rect">
            <a:avLst/>
          </a:prstGeom>
          <a:noFill/>
        </p:spPr>
        <p:txBody>
          <a:bodyPr wrap="square" lIns="0" tIns="0" rIns="0" bIns="0" anchor="ctr">
            <a:spAutoFit/>
          </a:bodyPr>
          <a:lstStyle/>
          <a:p>
            <a:pPr algn="ctr"/>
            <a:r>
              <a:rPr sz="1200" b="1">
                <a:solidFill>
                  <a:srgbClr val="FFFFFF"/>
                </a:solidFill>
                <a:latin typeface="Calibri"/>
              </a:rPr>
              <a:t>80–100</a:t>
            </a:r>
          </a:p>
          <a:p>
            <a:pPr algn="ctr"/>
            <a:r>
              <a:rPr sz="1000" b="0">
                <a:solidFill>
                  <a:srgbClr val="FFFFFF"/>
                </a:solidFill>
                <a:latin typeface="Calibri"/>
              </a:rPr>
              <a:t>Good</a:t>
            </a:r>
          </a:p>
        </p:txBody>
      </p:sp>
      <p:sp>
        <p:nvSpPr>
          <p:cNvPr id="32" name="Rounded Rectangle 31"/>
          <p:cNvSpPr/>
          <p:nvPr/>
        </p:nvSpPr>
        <p:spPr>
          <a:xfrm>
            <a:off x="7333488" y="5010912"/>
            <a:ext cx="1344168" cy="566928"/>
          </a:xfrm>
          <a:prstGeom prst="roundRect">
            <a:avLst>
              <a:gd name="adj" fmla="val 10000"/>
            </a:avLst>
          </a:prstGeom>
          <a:solidFill>
            <a:srgbClr val="0E7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33488" y="5010912"/>
            <a:ext cx="1344168" cy="566928"/>
          </a:xfrm>
          <a:prstGeom prst="rect">
            <a:avLst/>
          </a:prstGeom>
          <a:noFill/>
        </p:spPr>
        <p:txBody>
          <a:bodyPr wrap="square" lIns="0" tIns="0" rIns="0" bIns="0" anchor="ctr">
            <a:spAutoFit/>
          </a:bodyPr>
          <a:lstStyle/>
          <a:p>
            <a:pPr algn="ctr"/>
            <a:r>
              <a:rPr sz="1200" b="1">
                <a:solidFill>
                  <a:srgbClr val="FFFFFF"/>
                </a:solidFill>
                <a:latin typeface="Calibri"/>
              </a:rPr>
              <a:t>60–79</a:t>
            </a:r>
          </a:p>
          <a:p>
            <a:pPr algn="ctr"/>
            <a:r>
              <a:rPr sz="1000" b="0">
                <a:solidFill>
                  <a:srgbClr val="FFFFFF"/>
                </a:solidFill>
                <a:latin typeface="Calibri"/>
              </a:rPr>
              <a:t>Fair</a:t>
            </a:r>
          </a:p>
        </p:txBody>
      </p:sp>
      <p:sp>
        <p:nvSpPr>
          <p:cNvPr id="34" name="Rounded Rectangle 33"/>
          <p:cNvSpPr/>
          <p:nvPr/>
        </p:nvSpPr>
        <p:spPr>
          <a:xfrm>
            <a:off x="8769096" y="5010912"/>
            <a:ext cx="1344168" cy="566928"/>
          </a:xfrm>
          <a:prstGeom prst="roundRect">
            <a:avLst>
              <a:gd name="adj" fmla="val 10000"/>
            </a:avLst>
          </a:prstGeom>
          <a:solidFill>
            <a:srgbClr val="B0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769096" y="5010912"/>
            <a:ext cx="1344168" cy="566928"/>
          </a:xfrm>
          <a:prstGeom prst="rect">
            <a:avLst/>
          </a:prstGeom>
          <a:noFill/>
        </p:spPr>
        <p:txBody>
          <a:bodyPr wrap="square" lIns="0" tIns="0" rIns="0" bIns="0" anchor="ctr">
            <a:spAutoFit/>
          </a:bodyPr>
          <a:lstStyle/>
          <a:p>
            <a:pPr algn="ctr"/>
            <a:r>
              <a:rPr sz="1200" b="1">
                <a:solidFill>
                  <a:srgbClr val="FFFFFF"/>
                </a:solidFill>
                <a:latin typeface="Calibri"/>
              </a:rPr>
              <a:t>40–59</a:t>
            </a:r>
          </a:p>
          <a:p>
            <a:pPr algn="ctr"/>
            <a:r>
              <a:rPr sz="1000" b="0">
                <a:solidFill>
                  <a:srgbClr val="FFFFFF"/>
                </a:solidFill>
                <a:latin typeface="Calibri"/>
              </a:rPr>
              <a:t>Needs attention</a:t>
            </a:r>
          </a:p>
        </p:txBody>
      </p:sp>
      <p:sp>
        <p:nvSpPr>
          <p:cNvPr id="36" name="Rounded Rectangle 35"/>
          <p:cNvSpPr/>
          <p:nvPr/>
        </p:nvSpPr>
        <p:spPr>
          <a:xfrm>
            <a:off x="10204704" y="5010912"/>
            <a:ext cx="1344168" cy="566928"/>
          </a:xfrm>
          <a:prstGeom prst="roundRect">
            <a:avLst>
              <a:gd name="adj" fmla="val 10000"/>
            </a:avLst>
          </a:prstGeom>
          <a:solidFill>
            <a:srgbClr val="9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204704" y="5010912"/>
            <a:ext cx="1344168" cy="566928"/>
          </a:xfrm>
          <a:prstGeom prst="rect">
            <a:avLst/>
          </a:prstGeom>
          <a:noFill/>
        </p:spPr>
        <p:txBody>
          <a:bodyPr wrap="square" lIns="0" tIns="0" rIns="0" bIns="0" anchor="ctr">
            <a:spAutoFit/>
          </a:bodyPr>
          <a:lstStyle/>
          <a:p>
            <a:pPr algn="ctr"/>
            <a:r>
              <a:rPr sz="1200" b="1">
                <a:solidFill>
                  <a:srgbClr val="FFFFFF"/>
                </a:solidFill>
                <a:latin typeface="Calibri"/>
              </a:rPr>
              <a:t>&lt; 40</a:t>
            </a:r>
          </a:p>
          <a:p>
            <a:pPr algn="ctr"/>
            <a:r>
              <a:rPr sz="1000" b="0">
                <a:solidFill>
                  <a:srgbClr val="FFFFFF"/>
                </a:solidFill>
                <a:latin typeface="Calibri"/>
              </a:rPr>
              <a:t>Poor</a:t>
            </a:r>
          </a:p>
        </p:txBody>
      </p:sp>
      <p:sp>
        <p:nvSpPr>
          <p:cNvPr id="38" name="TextBox 37"/>
          <p:cNvSpPr txBox="1"/>
          <p:nvPr/>
        </p:nvSpPr>
        <p:spPr>
          <a:xfrm>
            <a:off x="5897880" y="5715000"/>
            <a:ext cx="5650992" cy="594360"/>
          </a:xfrm>
          <a:prstGeom prst="rect">
            <a:avLst/>
          </a:prstGeom>
          <a:noFill/>
        </p:spPr>
        <p:txBody>
          <a:bodyPr wrap="square" lIns="0" tIns="0" rIns="0" bIns="0" anchor="t">
            <a:spAutoFit/>
          </a:bodyPr>
          <a:lstStyle/>
          <a:p>
            <a:pPr marL="201168" indent="-201168" algn="l">
              <a:spcAft>
                <a:spcPts val="300"/>
              </a:spcAft>
              <a:buClr>
                <a:srgbClr val="0E7C8A"/>
              </a:buClr>
              <a:buChar char="•"/>
            </a:pPr>
            <a:r>
              <a:rPr sz="1100" b="0">
                <a:solidFill>
                  <a:srgbClr val="6E837F"/>
                </a:solidFill>
                <a:latin typeface="Calibri"/>
              </a:rPr>
              <a:t>Unanswered areas are excluded, not scored as zero; under 4 of 8 answered → no score.</a:t>
            </a:r>
          </a:p>
          <a:p>
            <a:pPr marL="201168" indent="-201168" algn="l">
              <a:buClr>
                <a:srgbClr val="0E7C8A"/>
              </a:buClr>
              <a:buChar char="•"/>
            </a:pPr>
            <a:r>
              <a:rPr sz="1100" b="0">
                <a:solidFill>
                  <a:srgbClr val="6E837F"/>
                </a:solidFill>
                <a:latin typeface="Calibri"/>
              </a:rPr>
              <a:t>Both ends are bounded: 5 L of water a day is flagged for review, not rewarded.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2595" y="269655"/>
            <a:ext cx="10881360" cy="731520"/>
          </a:xfrm>
          <a:prstGeom prst="rect">
            <a:avLst/>
          </a:prstGeom>
          <a:noFill/>
        </p:spPr>
        <p:txBody>
          <a:bodyPr wrap="square" lIns="0" tIns="0" rIns="0" bIns="0" anchor="ctr">
            <a:spAutoFit/>
          </a:bodyPr>
          <a:lstStyle/>
          <a:p>
            <a:pPr algn="l"/>
            <a:r>
              <a:rPr sz="3200" b="1">
                <a:solidFill>
                  <a:srgbClr val="FFFFFF"/>
                </a:solidFill>
                <a:latin typeface="Cambria"/>
              </a:rPr>
              <a:t>Safety, Impact &amp; Conclusion</a:t>
            </a:r>
          </a:p>
        </p:txBody>
      </p:sp>
      <p:sp>
        <p:nvSpPr>
          <p:cNvPr id="3" name="Rounded Rectangle 2"/>
          <p:cNvSpPr/>
          <p:nvPr/>
        </p:nvSpPr>
        <p:spPr>
          <a:xfrm>
            <a:off x="640080" y="1325880"/>
            <a:ext cx="3483864" cy="3611880"/>
          </a:xfrm>
          <a:prstGeom prst="roundRect">
            <a:avLst>
              <a:gd name="adj" fmla="val 4000"/>
            </a:avLst>
          </a:prstGeom>
          <a:solidFill>
            <a:schemeClr val="accent1"/>
          </a:solidFill>
          <a:ln w="9525">
            <a:solidFill>
              <a:srgbClr val="1E6D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36192"/>
            <a:ext cx="3026664" cy="228600"/>
          </a:xfrm>
          <a:prstGeom prst="rect">
            <a:avLst/>
          </a:prstGeom>
          <a:noFill/>
        </p:spPr>
        <p:txBody>
          <a:bodyPr wrap="square" lIns="0" tIns="0" rIns="0" bIns="0" anchor="ctr">
            <a:spAutoFit/>
          </a:bodyPr>
          <a:lstStyle/>
          <a:p>
            <a:pPr algn="l"/>
            <a:r>
              <a:rPr sz="1100" b="1" spc="200">
                <a:solidFill>
                  <a:srgbClr val="0DA98C"/>
                </a:solidFill>
                <a:latin typeface="Calibri"/>
              </a:rPr>
              <a:t>SAFETY GUARDRAILS</a:t>
            </a:r>
          </a:p>
        </p:txBody>
      </p:sp>
      <p:sp>
        <p:nvSpPr>
          <p:cNvPr id="5" name="TextBox 4"/>
          <p:cNvSpPr txBox="1"/>
          <p:nvPr/>
        </p:nvSpPr>
        <p:spPr>
          <a:xfrm>
            <a:off x="914400" y="1901952"/>
            <a:ext cx="2980944" cy="2926080"/>
          </a:xfrm>
          <a:prstGeom prst="rect">
            <a:avLst/>
          </a:prstGeom>
          <a:noFill/>
        </p:spPr>
        <p:txBody>
          <a:bodyPr wrap="square" lIns="0" tIns="0" rIns="0" bIns="0" anchor="t">
            <a:spAutoFit/>
          </a:bodyPr>
          <a:lstStyle/>
          <a:p>
            <a:pPr marL="201168" indent="-201168" algn="l">
              <a:spcAft>
                <a:spcPts val="1000"/>
              </a:spcAft>
              <a:buClr>
                <a:srgbClr val="0DA98C"/>
              </a:buClr>
              <a:buChar char="•"/>
            </a:pPr>
            <a:r>
              <a:rPr sz="1350" b="0">
                <a:solidFill>
                  <a:srgbClr val="FFFFFF"/>
                </a:solidFill>
                <a:latin typeface="Calibri"/>
              </a:rPr>
              <a:t>Never diagnoses or names medication</a:t>
            </a:r>
          </a:p>
          <a:p>
            <a:pPr marL="201168" indent="-201168" algn="l">
              <a:spcAft>
                <a:spcPts val="1000"/>
              </a:spcAft>
              <a:buClr>
                <a:srgbClr val="0DA98C"/>
              </a:buClr>
              <a:buChar char="•"/>
            </a:pPr>
            <a:r>
              <a:rPr sz="1350" b="0">
                <a:solidFill>
                  <a:srgbClr val="FFFFFF"/>
                </a:solidFill>
                <a:latin typeface="Calibri"/>
              </a:rPr>
              <a:t>Red-flag symptoms → emergency escalation</a:t>
            </a:r>
          </a:p>
          <a:p>
            <a:pPr marL="201168" indent="-201168" algn="l">
              <a:spcAft>
                <a:spcPts val="1000"/>
              </a:spcAft>
              <a:buClr>
                <a:srgbClr val="0DA98C"/>
              </a:buClr>
              <a:buChar char="•"/>
            </a:pPr>
            <a:r>
              <a:rPr sz="1350" b="0">
                <a:solidFill>
                  <a:srgbClr val="FFFFFF"/>
                </a:solidFill>
                <a:latin typeface="Calibri"/>
              </a:rPr>
              <a:t>Doctor can override any value; score recalculates live</a:t>
            </a:r>
          </a:p>
          <a:p>
            <a:pPr marL="201168" indent="-201168" algn="l">
              <a:spcAft>
                <a:spcPts val="1000"/>
              </a:spcAft>
              <a:buClr>
                <a:srgbClr val="0DA98C"/>
              </a:buClr>
              <a:buChar char="•"/>
            </a:pPr>
            <a:r>
              <a:rPr sz="1350" b="0">
                <a:solidFill>
                  <a:srgbClr val="FFFFFF"/>
                </a:solidFill>
                <a:latin typeface="Calibri"/>
              </a:rPr>
              <a:t>Every value keeps the patient's words + confidence</a:t>
            </a:r>
          </a:p>
          <a:p>
            <a:pPr marL="201168" indent="-201168" algn="l">
              <a:spcAft>
                <a:spcPts val="1000"/>
              </a:spcAft>
              <a:buClr>
                <a:srgbClr val="0DA98C"/>
              </a:buClr>
              <a:buChar char="•"/>
            </a:pPr>
            <a:r>
              <a:rPr sz="1350" b="0">
                <a:solidFill>
                  <a:srgbClr val="FFFFFF"/>
                </a:solidFill>
                <a:latin typeface="Calibri"/>
              </a:rPr>
              <a:t>Under 4 of 8 answers → no score</a:t>
            </a:r>
          </a:p>
          <a:p>
            <a:pPr marL="201168" indent="-201168" algn="l">
              <a:spcAft>
                <a:spcPts val="1000"/>
              </a:spcAft>
              <a:buClr>
                <a:srgbClr val="0DA98C"/>
              </a:buClr>
              <a:buChar char="•"/>
            </a:pPr>
            <a:r>
              <a:rPr sz="1350" b="0">
                <a:solidFill>
                  <a:srgbClr val="FFFFFF"/>
                </a:solidFill>
                <a:latin typeface="Calibri"/>
              </a:rPr>
              <a:t>Age-matched advice; explicit consent first</a:t>
            </a:r>
          </a:p>
        </p:txBody>
      </p:sp>
      <p:sp>
        <p:nvSpPr>
          <p:cNvPr id="6" name="Rounded Rectangle 5"/>
          <p:cNvSpPr/>
          <p:nvPr/>
        </p:nvSpPr>
        <p:spPr>
          <a:xfrm>
            <a:off x="4352544" y="1325880"/>
            <a:ext cx="3483864" cy="3611880"/>
          </a:xfrm>
          <a:prstGeom prst="roundRect">
            <a:avLst>
              <a:gd name="adj" fmla="val 4000"/>
            </a:avLst>
          </a:prstGeom>
          <a:solidFill>
            <a:schemeClr val="accent1"/>
          </a:solidFill>
          <a:ln w="9525">
            <a:solidFill>
              <a:srgbClr val="1E6D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626864" y="1536192"/>
            <a:ext cx="3026664" cy="228600"/>
          </a:xfrm>
          <a:prstGeom prst="rect">
            <a:avLst/>
          </a:prstGeom>
          <a:noFill/>
        </p:spPr>
        <p:txBody>
          <a:bodyPr wrap="square" lIns="0" tIns="0" rIns="0" bIns="0" anchor="ctr">
            <a:spAutoFit/>
          </a:bodyPr>
          <a:lstStyle/>
          <a:p>
            <a:pPr algn="l"/>
            <a:r>
              <a:rPr sz="1100" b="1" spc="200">
                <a:solidFill>
                  <a:srgbClr val="0DA98C"/>
                </a:solidFill>
                <a:latin typeface="Calibri"/>
              </a:rPr>
              <a:t>WHAT WAS BUILT</a:t>
            </a:r>
          </a:p>
        </p:txBody>
      </p:sp>
      <p:sp>
        <p:nvSpPr>
          <p:cNvPr id="8" name="TextBox 7"/>
          <p:cNvSpPr txBox="1"/>
          <p:nvPr/>
        </p:nvSpPr>
        <p:spPr>
          <a:xfrm>
            <a:off x="4626864" y="1901952"/>
            <a:ext cx="2980944" cy="2926080"/>
          </a:xfrm>
          <a:prstGeom prst="rect">
            <a:avLst/>
          </a:prstGeom>
          <a:noFill/>
        </p:spPr>
        <p:txBody>
          <a:bodyPr wrap="square" lIns="0" tIns="0" rIns="0" bIns="0" anchor="t">
            <a:spAutoFit/>
          </a:bodyPr>
          <a:lstStyle/>
          <a:p>
            <a:pPr marL="201168" indent="-201168" algn="l">
              <a:spcAft>
                <a:spcPts val="1000"/>
              </a:spcAft>
              <a:buClr>
                <a:srgbClr val="0DA98C"/>
              </a:buClr>
              <a:buChar char="•"/>
            </a:pPr>
            <a:r>
              <a:rPr sz="1350" b="0">
                <a:solidFill>
                  <a:srgbClr val="FFFFFF"/>
                </a:solidFill>
                <a:latin typeface="Calibri"/>
              </a:rPr>
              <a:t>Voice &amp; text consultation in 9 languages</a:t>
            </a:r>
          </a:p>
          <a:p>
            <a:pPr marL="201168" indent="-201168" algn="l">
              <a:spcAft>
                <a:spcPts val="1000"/>
              </a:spcAft>
              <a:buClr>
                <a:srgbClr val="0DA98C"/>
              </a:buClr>
              <a:buChar char="•"/>
            </a:pPr>
            <a:r>
              <a:rPr sz="1350" b="0">
                <a:solidFill>
                  <a:srgbClr val="FFFFFF"/>
                </a:solidFill>
                <a:latin typeface="Calibri"/>
              </a:rPr>
              <a:t>8-area assessment with slot-by-slot extraction</a:t>
            </a:r>
          </a:p>
          <a:p>
            <a:pPr marL="201168" indent="-201168" algn="l">
              <a:spcAft>
                <a:spcPts val="1000"/>
              </a:spcAft>
              <a:buClr>
                <a:srgbClr val="0DA98C"/>
              </a:buClr>
              <a:buChar char="•"/>
            </a:pPr>
            <a:r>
              <a:rPr sz="1350" b="0">
                <a:solidFill>
                  <a:srgbClr val="FFFFFF"/>
                </a:solidFill>
                <a:latin typeface="Calibri"/>
              </a:rPr>
              <a:t>Deterministic scoring + 10 risk rules incl. BMI</a:t>
            </a:r>
          </a:p>
          <a:p>
            <a:pPr marL="201168" indent="-201168" algn="l">
              <a:spcAft>
                <a:spcPts val="1000"/>
              </a:spcAft>
              <a:buClr>
                <a:srgbClr val="0DA98C"/>
              </a:buClr>
              <a:buChar char="•"/>
            </a:pPr>
            <a:r>
              <a:rPr sz="1350" b="0">
                <a:solidFill>
                  <a:srgbClr val="FFFFFF"/>
                </a:solidFill>
                <a:latin typeface="Calibri"/>
              </a:rPr>
              <a:t>RAG recommendations cited to WHO &amp; ICMR-NIN</a:t>
            </a:r>
          </a:p>
          <a:p>
            <a:pPr marL="201168" indent="-201168" algn="l">
              <a:spcAft>
                <a:spcPts val="1000"/>
              </a:spcAft>
              <a:buClr>
                <a:srgbClr val="0DA98C"/>
              </a:buClr>
              <a:buChar char="•"/>
            </a:pPr>
            <a:r>
              <a:rPr sz="1350" b="0">
                <a:solidFill>
                  <a:srgbClr val="FFFFFF"/>
                </a:solidFill>
                <a:latin typeface="Calibri"/>
              </a:rPr>
              <a:t>Doctor dashboard with live re-scoring</a:t>
            </a:r>
          </a:p>
          <a:p>
            <a:pPr marL="201168" indent="-201168" algn="l">
              <a:spcAft>
                <a:spcPts val="1000"/>
              </a:spcAft>
              <a:buClr>
                <a:srgbClr val="0DA98C"/>
              </a:buClr>
              <a:buChar char="•"/>
            </a:pPr>
            <a:r>
              <a:rPr sz="1350" b="0">
                <a:solidFill>
                  <a:srgbClr val="FFFFFF"/>
                </a:solidFill>
                <a:latin typeface="Calibri"/>
              </a:rPr>
              <a:t>PDF report with full Indic script support</a:t>
            </a:r>
          </a:p>
        </p:txBody>
      </p:sp>
      <p:sp>
        <p:nvSpPr>
          <p:cNvPr id="9" name="Rounded Rectangle 8"/>
          <p:cNvSpPr/>
          <p:nvPr/>
        </p:nvSpPr>
        <p:spPr>
          <a:xfrm>
            <a:off x="8065008" y="1325880"/>
            <a:ext cx="3483864" cy="3611880"/>
          </a:xfrm>
          <a:prstGeom prst="roundRect">
            <a:avLst>
              <a:gd name="adj" fmla="val 4000"/>
            </a:avLst>
          </a:prstGeom>
          <a:solidFill>
            <a:schemeClr val="accent1"/>
          </a:solidFill>
          <a:ln w="9525">
            <a:solidFill>
              <a:srgbClr val="1E6D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39328" y="1536192"/>
            <a:ext cx="3026664" cy="228600"/>
          </a:xfrm>
          <a:prstGeom prst="rect">
            <a:avLst/>
          </a:prstGeom>
          <a:noFill/>
        </p:spPr>
        <p:txBody>
          <a:bodyPr wrap="square" lIns="0" tIns="0" rIns="0" bIns="0" anchor="ctr">
            <a:spAutoFit/>
          </a:bodyPr>
          <a:lstStyle/>
          <a:p>
            <a:pPr algn="l"/>
            <a:r>
              <a:rPr sz="1100" b="1" spc="200">
                <a:solidFill>
                  <a:srgbClr val="0DA98C"/>
                </a:solidFill>
                <a:latin typeface="Calibri"/>
              </a:rPr>
              <a:t>ADVANTAGES &amp; USES</a:t>
            </a:r>
          </a:p>
        </p:txBody>
      </p:sp>
      <p:sp>
        <p:nvSpPr>
          <p:cNvPr id="11" name="TextBox 10"/>
          <p:cNvSpPr txBox="1"/>
          <p:nvPr/>
        </p:nvSpPr>
        <p:spPr>
          <a:xfrm>
            <a:off x="8339328" y="1901952"/>
            <a:ext cx="2980944" cy="2926080"/>
          </a:xfrm>
          <a:prstGeom prst="rect">
            <a:avLst/>
          </a:prstGeom>
          <a:noFill/>
        </p:spPr>
        <p:txBody>
          <a:bodyPr wrap="square" lIns="0" tIns="0" rIns="0" bIns="0" anchor="t">
            <a:spAutoFit/>
          </a:bodyPr>
          <a:lstStyle/>
          <a:p>
            <a:pPr marL="201168" indent="-201168" algn="l">
              <a:spcAft>
                <a:spcPts val="1000"/>
              </a:spcAft>
              <a:buClr>
                <a:srgbClr val="0DA98C"/>
              </a:buClr>
              <a:buChar char="•"/>
            </a:pPr>
            <a:r>
              <a:rPr sz="1350" b="0">
                <a:solidFill>
                  <a:srgbClr val="FFFFFF"/>
                </a:solidFill>
                <a:latin typeface="Calibri"/>
              </a:rPr>
              <a:t>Preventive care and early chronic-risk detection</a:t>
            </a:r>
          </a:p>
          <a:p>
            <a:pPr marL="201168" indent="-201168" algn="l">
              <a:spcAft>
                <a:spcPts val="1000"/>
              </a:spcAft>
              <a:buClr>
                <a:srgbClr val="0DA98C"/>
              </a:buClr>
              <a:buChar char="•"/>
            </a:pPr>
            <a:r>
              <a:rPr sz="1350" b="0">
                <a:solidFill>
                  <a:srgbClr val="FFFFFF"/>
                </a:solidFill>
                <a:latin typeface="Calibri"/>
              </a:rPr>
              <a:t>Saves doctors' consultation time</a:t>
            </a:r>
          </a:p>
          <a:p>
            <a:pPr marL="201168" indent="-201168" algn="l">
              <a:spcAft>
                <a:spcPts val="1000"/>
              </a:spcAft>
              <a:buClr>
                <a:srgbClr val="0DA98C"/>
              </a:buClr>
              <a:buChar char="•"/>
            </a:pPr>
            <a:r>
              <a:rPr sz="1350" b="0">
                <a:solidFill>
                  <a:srgbClr val="FFFFFF"/>
                </a:solidFill>
                <a:latin typeface="Calibri"/>
              </a:rPr>
              <a:t>Works in the patient's own language</a:t>
            </a:r>
          </a:p>
          <a:p>
            <a:pPr marL="201168" indent="-201168" algn="l">
              <a:spcAft>
                <a:spcPts val="1000"/>
              </a:spcAft>
              <a:buClr>
                <a:srgbClr val="0DA98C"/>
              </a:buClr>
              <a:buChar char="•"/>
            </a:pPr>
            <a:r>
              <a:rPr sz="1350" b="0">
                <a:solidFill>
                  <a:srgbClr val="FFFFFF"/>
                </a:solidFill>
                <a:latin typeface="Calibri"/>
              </a:rPr>
              <a:t>Diabetes, hypertension &amp; obesity care</a:t>
            </a:r>
          </a:p>
          <a:p>
            <a:pPr marL="201168" indent="-201168" algn="l">
              <a:spcAft>
                <a:spcPts val="1000"/>
              </a:spcAft>
              <a:buClr>
                <a:srgbClr val="0DA98C"/>
              </a:buClr>
              <a:buChar char="•"/>
            </a:pPr>
            <a:r>
              <a:rPr sz="1350" b="0">
                <a:solidFill>
                  <a:srgbClr val="FFFFFF"/>
                </a:solidFill>
                <a:latin typeface="Calibri"/>
              </a:rPr>
              <a:t>Cardiovascular disease prevention</a:t>
            </a:r>
          </a:p>
          <a:p>
            <a:pPr marL="201168" indent="-201168" algn="l">
              <a:spcAft>
                <a:spcPts val="1000"/>
              </a:spcAft>
              <a:buClr>
                <a:srgbClr val="0DA98C"/>
              </a:buClr>
              <a:buChar char="•"/>
            </a:pPr>
            <a:r>
              <a:rPr sz="1350" b="0">
                <a:solidFill>
                  <a:srgbClr val="FFFFFF"/>
                </a:solidFill>
                <a:latin typeface="Calibri"/>
              </a:rPr>
              <a:t>Telemedicine and rural multilingual hospitals</a:t>
            </a:r>
          </a:p>
        </p:txBody>
      </p:sp>
      <p:sp>
        <p:nvSpPr>
          <p:cNvPr id="12" name="TextBox 11"/>
          <p:cNvSpPr txBox="1"/>
          <p:nvPr/>
        </p:nvSpPr>
        <p:spPr>
          <a:xfrm>
            <a:off x="640080" y="5212080"/>
            <a:ext cx="7863840" cy="1097280"/>
          </a:xfrm>
          <a:prstGeom prst="rect">
            <a:avLst/>
          </a:prstGeom>
          <a:noFill/>
        </p:spPr>
        <p:txBody>
          <a:bodyPr wrap="square" lIns="0" tIns="0" rIns="0" bIns="0" anchor="t">
            <a:spAutoFit/>
          </a:bodyPr>
          <a:lstStyle/>
          <a:p>
            <a:pPr algn="l">
              <a:spcAft>
                <a:spcPts val="600"/>
              </a:spcAft>
            </a:pPr>
            <a:r>
              <a:rPr sz="1500" b="1">
                <a:solidFill>
                  <a:srgbClr val="FFFFFF"/>
                </a:solidFill>
                <a:latin typeface="Cambria"/>
              </a:rPr>
              <a:t>Transforming clinical conversation into comprehensive health evaluation</a:t>
            </a:r>
          </a:p>
          <a:p>
            <a:pPr algn="l"/>
            <a:r>
              <a:rPr sz="1200" b="0">
                <a:solidFill>
                  <a:srgbClr val="B7CFCA"/>
                </a:solidFill>
                <a:latin typeface="Calibri"/>
              </a:rPr>
              <a:t>By combining symptoms, lifestyle habits, AI-based risk analysis and cited recommendations, the system supports preventive healthcare and better clinical decisions.</a:t>
            </a:r>
          </a:p>
        </p:txBody>
      </p:sp>
      <p:sp>
        <p:nvSpPr>
          <p:cNvPr id="13" name="TextBox 12"/>
          <p:cNvSpPr txBox="1"/>
          <p:nvPr/>
        </p:nvSpPr>
        <p:spPr>
          <a:xfrm>
            <a:off x="8778240" y="5212080"/>
            <a:ext cx="2770632" cy="1097280"/>
          </a:xfrm>
          <a:prstGeom prst="rect">
            <a:avLst/>
          </a:prstGeom>
          <a:noFill/>
        </p:spPr>
        <p:txBody>
          <a:bodyPr wrap="square" lIns="0" tIns="0" rIns="0" bIns="0" anchor="ctr">
            <a:spAutoFit/>
          </a:bodyPr>
          <a:lstStyle/>
          <a:p>
            <a:pPr algn="r"/>
            <a:r>
              <a:rPr sz="3600" b="1">
                <a:solidFill>
                  <a:srgbClr val="0DA98C"/>
                </a:solidFill>
                <a:latin typeface="Cambria"/>
              </a:rPr>
              <a:t>Thank You</a:t>
            </a:r>
          </a:p>
        </p:txBody>
      </p:sp>
    </p:spTree>
  </p:cSld>
  <p:clrMapOvr>
    <a:masterClrMapping/>
  </p:clrMapOvr>
</p:sld>
</file>

<file path=ppt/theme/theme1.xml><?xml version="1.0" encoding="utf-8"?>
<a:theme xmlns:a="http://schemas.openxmlformats.org/drawingml/2006/main" name="Axis">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 id="{2A75EA04-0AE5-4074-9538-7DA6C138DAE9}" vid="{E39B6906-D52F-4B95-B43C-27F512CB47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Axis</Template>
  <TotalTime>46</TotalTime>
  <Words>1203</Words>
  <Application>Microsoft Office PowerPoint</Application>
  <PresentationFormat>Widescreen</PresentationFormat>
  <Paragraphs>176</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Cambria</vt:lpstr>
      <vt:lpstr>Neue Haas Grotesk Text Pro</vt:lpstr>
      <vt:lpstr>Axis</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Multilingual Clinical Dialogue System</dc:title>
  <dc:subject>PptxGenJS Presentation</dc:subject>
  <dc:creator>Nidhi Sinha</dc:creator>
  <cp:lastModifiedBy>Nidhi Sinha</cp:lastModifiedBy>
  <cp:revision>5</cp:revision>
  <cp:lastPrinted>2026-10-08T02:45:01Z</cp:lastPrinted>
  <dcterms:created xsi:type="dcterms:W3CDTF">2026-09-28T13:47:00Z</dcterms:created>
  <dcterms:modified xsi:type="dcterms:W3CDTF">2026-10-08T02:46:21Z</dcterms:modified>
</cp:coreProperties>
</file>